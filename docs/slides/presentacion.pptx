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ae023e82-eff6-2394-7015-9799cb245e30}">
          <p14:sldIdLst>
            <p14:sldId id="256"/>
            <p14:sldId id="257"/>
            <p14:sldId id="258"/>
          </p14:sldIdLst>
        </p14:section>
        <p14:section name="Modelo y métodos" id="{a0b26748-0ce8-26b1-3018-88290726708b}">
          <p14:sldIdLst>
            <p14:sldId id="259"/>
            <p14:sldId id="260"/>
            <p14:sldId id="261"/>
            <p14:sldId id="262"/>
            <p14:sldId id="263"/>
          </p14:sldIdLst>
        </p14:section>
        <p14:section name="Resultados" id="{3a6f4376-0bb3-4cc0-e703-e1669c9be8af}">
          <p14:sldIdLst>
            <p14:sldId id="264"/>
            <p14:sldId id="265"/>
            <p14:sldId id="266"/>
            <p14:sldId id="267"/>
            <p14:sldId id="268"/>
            <p14:sldId id="269"/>
          </p14:sldIdLst>
        </p14:section>
        <p14:section name="Demo y cierre" id="{dae13c16-0be2-fe63-50ca-acf903534721}">
          <p14:sldIdLst>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c:v>
                </c:pt>
              </c:strCache>
            </c:strRef>
          </c:tx>
          <c:spPr>
            <a:solidFill>
              <a:srgbClr val="FF9F43"/>
            </a:solidFill>
            <a:effectLst/>
          </c:spPr>
          <c:invertIfNegative val="0"/>
          <c:dLbls>
            <c:numFmt formatCode="0.0" sourceLinked="0"/>
            <c:txPr>
              <a:bodyPr/>
              <a:lstStyle/>
              <a:p>
                <a:pPr>
                  <a:defRPr b="1" i="0" strike="noStrike" sz="1400" u="none">
                    <a:solidFill>
                      <a:srgbClr val="F2F4F8"/>
                    </a:solidFill>
                    <a:latin typeface="+mn-lt"/>
                  </a:defRPr>
                </a:pPr>
              </a:p>
            </c:txPr>
            <c:showLegendKey val="0"/>
            <c:showVal val="1"/>
            <c:showCatName val="0"/>
            <c:showSerName val="0"/>
            <c:showPercent val="0"/>
            <c:showBubbleSize val="0"/>
            <c:showLeaderLines val="0"/>
          </c:dLbls>
          <c:dPt>
            <c:idx val="0"/>
            <c:invertIfNegative val="0"/>
            <c:bubble3D val="0"/>
            <c:spPr>
              <a:solidFill>
                <a:srgbClr val="FF9F43"/>
              </a:solidFill>
              <a:effectLst/>
            </c:spPr>
          </c:dPt>
          <c:dPt>
            <c:idx val="1"/>
            <c:invertIfNegative val="0"/>
            <c:bubble3D val="0"/>
            <c:spPr>
              <a:solidFill>
                <a:srgbClr val="7D8796"/>
              </a:solidFill>
              <a:effectLst/>
            </c:spPr>
          </c:dPt>
          <c:dPt>
            <c:idx val="2"/>
            <c:invertIfNegative val="0"/>
            <c:bubble3D val="0"/>
            <c:spPr>
              <a:solidFill>
                <a:srgbClr val="C9CED6"/>
              </a:solidFill>
              <a:effectLst/>
            </c:spPr>
          </c:dPt>
          <c:cat>
            <c:multiLvlStrRef>
              <c:f>Sheet1!$A$2:$A$4</c:f>
              <c:multiLvlStrCache>
                <c:ptCount val="3"/>
                <c:lvl>
                  <c:pt idx="0">
                    <c:v>Tiempo fijo (±8.5)</c:v>
                  </c:pt>
                  <c:pt idx="1">
                    <c:v>Actuado (±6.1)</c:v>
                  </c:pt>
                  <c:pt idx="2">
                    <c:v>Max-pressure (±2.5)</c:v>
                  </c:pt>
                </c:lvl>
              </c:multiLvlStrCache>
            </c:multiLvlStrRef>
          </c:cat>
          <c:val>
            <c:numRef>
              <c:f>Sheet1!$B$2:$B$4</c:f>
              <c:numCache>
                <c:formatCode>General</c:formatCode>
                <c:ptCount val="3"/>
                <c:pt idx="0">
                  <c:v>79.1</c:v>
                </c:pt>
                <c:pt idx="1">
                  <c:v>63.4</c:v>
                </c:pt>
                <c:pt idx="2">
                  <c:v>41.7</c:v>
                </c:pt>
              </c:numCache>
            </c:numRef>
          </c:val>
        </c:ser>
        <c:dLbls>
          <c:numFmt formatCode="0.0" sourceLinked="0"/>
          <c:txPr>
            <a:bodyPr/>
            <a:lstStyle/>
            <a:p>
              <a:pPr>
                <a:defRPr b="1" i="0" strike="noStrike" sz="1400" u="none">
                  <a:solidFill>
                    <a:srgbClr val="F2F4F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F2F4F8"/>
                </a:solidFill>
                <a:latin typeface="+mn-lt"/>
              </a:defRPr>
            </a:pPr>
            <a:endParaRPr lang="en-US"/>
          </a:p>
        </c:txPr>
        <c:crossAx val="2094734552"/>
        <c:crosses val="autoZero"/>
        <c:auto val="1"/>
        <c:lblAlgn val="ctr"/>
        <c:noMultiLvlLbl val="1"/>
      </c:catAx>
      <c:valAx>
        <c:axId val="2094734552"/>
        <c:scaling>
          <c:orientation val="minMax"/>
          <c:max val="9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B0E14"/>
        </a:solidFill>
        <a:ln>
          <a:noFill/>
        </a:ln>
        <a:effectLst/>
      </c:spPr>
    </c:plotArea>
    <c:plotVisOnly val="1"/>
    <c:dispBlanksAs val="span"/>
  </c:chart>
  <c:spPr>
    <a:solidFill>
      <a:srgbClr val="0B0E14"/>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c:v>
                </c:pt>
              </c:strCache>
            </c:strRef>
          </c:tx>
          <c:spPr>
            <a:solidFill>
              <a:srgbClr val="FF9F43"/>
            </a:solidFill>
            <a:effectLst/>
          </c:spPr>
          <c:invertIfNegative val="0"/>
          <c:dLbls>
            <c:numFmt formatCode="0.0" sourceLinked="0"/>
            <c:txPr>
              <a:bodyPr/>
              <a:lstStyle/>
              <a:p>
                <a:pPr>
                  <a:defRPr b="1" i="0" strike="noStrike" sz="1400" u="none">
                    <a:solidFill>
                      <a:srgbClr val="F2F4F8"/>
                    </a:solidFill>
                    <a:latin typeface="+mn-lt"/>
                  </a:defRPr>
                </a:pPr>
              </a:p>
            </c:txPr>
            <c:showLegendKey val="0"/>
            <c:showVal val="1"/>
            <c:showCatName val="0"/>
            <c:showSerName val="0"/>
            <c:showPercent val="0"/>
            <c:showBubbleSize val="0"/>
            <c:showLeaderLines val="0"/>
          </c:dLbls>
          <c:dPt>
            <c:idx val="0"/>
            <c:invertIfNegative val="0"/>
            <c:bubble3D val="0"/>
            <c:spPr>
              <a:solidFill>
                <a:srgbClr val="FF9F43"/>
              </a:solidFill>
              <a:effectLst/>
            </c:spPr>
          </c:dPt>
          <c:dPt>
            <c:idx val="1"/>
            <c:invertIfNegative val="0"/>
            <c:bubble3D val="0"/>
            <c:spPr>
              <a:solidFill>
                <a:srgbClr val="7D8796"/>
              </a:solidFill>
              <a:effectLst/>
            </c:spPr>
          </c:dPt>
          <c:dPt>
            <c:idx val="2"/>
            <c:invertIfNegative val="0"/>
            <c:bubble3D val="0"/>
            <c:spPr>
              <a:solidFill>
                <a:srgbClr val="C9CED6"/>
              </a:solidFill>
              <a:effectLst/>
            </c:spPr>
          </c:dPt>
          <c:dPt>
            <c:idx val="3"/>
            <c:invertIfNegative val="0"/>
            <c:bubble3D val="0"/>
            <c:spPr>
              <a:solidFill>
                <a:srgbClr val="1E9A73"/>
              </a:solidFill>
              <a:effectLst/>
            </c:spPr>
          </c:dPt>
          <c:dPt>
            <c:idx val="4"/>
            <c:invertIfNegative val="0"/>
            <c:bubble3D val="0"/>
            <c:spPr>
              <a:solidFill>
                <a:srgbClr val="1E9A73"/>
              </a:solidFill>
              <a:effectLst/>
            </c:spPr>
          </c:dPt>
          <c:dPt>
            <c:idx val="5"/>
            <c:invertIfNegative val="0"/>
            <c:bubble3D val="0"/>
            <c:spPr>
              <a:solidFill>
                <a:srgbClr val="2EE6A6"/>
              </a:solidFill>
              <a:effectLst/>
            </c:spPr>
          </c:dPt>
          <c:dPt>
            <c:idx val="6"/>
            <c:invertIfNegative val="0"/>
            <c:bubble3D val="0"/>
            <c:spPr>
              <a:solidFill>
                <a:srgbClr val="2EE6A6"/>
              </a:solidFill>
              <a:effectLst/>
            </c:spPr>
          </c:dPt>
          <c:dPt>
            <c:idx val="7"/>
            <c:invertIfNegative val="0"/>
            <c:bubble3D val="0"/>
            <c:spPr>
              <a:solidFill>
                <a:srgbClr val="2EE6A6"/>
              </a:solidFill>
              <a:effectLst/>
            </c:spPr>
          </c:dPt>
          <c:cat>
            <c:multiLvlStrRef>
              <c:f>Sheet1!$A$2:$A$9</c:f>
              <c:multiLvlStrCache>
                <c:ptCount val="8"/>
                <c:lvl>
                  <c:pt idx="0">
                    <c:v>Tiempo fijo</c:v>
                  </c:pt>
                  <c:pt idx="1">
                    <c:v>Actuado</c:v>
                  </c:pt>
                  <c:pt idx="2">
                    <c:v>Max-pressure</c:v>
                  </c:pt>
                  <c:pt idx="3">
                    <c:v>Q-Learning</c:v>
                  </c:pt>
                  <c:pt idx="4">
                    <c:v>Dyna-Q n=50</c:v>
                  </c:pt>
                  <c:pt idx="5">
                    <c:v>DQN base</c:v>
                  </c:pt>
                  <c:pt idx="6">
                    <c:v>DQN completo</c:v>
                  </c:pt>
                  <c:pt idx="7">
                    <c:v>PPO</c:v>
                  </c:pt>
                </c:lvl>
              </c:multiLvlStrCache>
            </c:multiLvlStrRef>
          </c:cat>
          <c:val>
            <c:numRef>
              <c:f>Sheet1!$B$2:$B$9</c:f>
              <c:numCache>
                <c:formatCode>General</c:formatCode>
                <c:ptCount val="8"/>
                <c:pt idx="0">
                  <c:v>33.6</c:v>
                </c:pt>
                <c:pt idx="1">
                  <c:v>38</c:v>
                </c:pt>
                <c:pt idx="2">
                  <c:v>19.8</c:v>
                </c:pt>
                <c:pt idx="3">
                  <c:v>39</c:v>
                </c:pt>
                <c:pt idx="4">
                  <c:v>47.3</c:v>
                </c:pt>
                <c:pt idx="5">
                  <c:v>22.7</c:v>
                </c:pt>
                <c:pt idx="6">
                  <c:v>21.1</c:v>
                </c:pt>
                <c:pt idx="7">
                  <c:v>23.8</c:v>
                </c:pt>
              </c:numCache>
            </c:numRef>
          </c:val>
        </c:ser>
        <c:dLbls>
          <c:numFmt formatCode="0.0" sourceLinked="0"/>
          <c:txPr>
            <a:bodyPr/>
            <a:lstStyle/>
            <a:p>
              <a:pPr>
                <a:defRPr b="1" i="0" strike="noStrike" sz="1400" u="none">
                  <a:solidFill>
                    <a:srgbClr val="F2F4F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F2F4F8"/>
                </a:solidFill>
                <a:latin typeface="+mn-lt"/>
              </a:defRPr>
            </a:pPr>
            <a:endParaRPr lang="en-US"/>
          </a:p>
        </c:txPr>
        <c:crossAx val="2094734552"/>
        <c:crosses val="autoZero"/>
        <c:auto val="1"/>
        <c:lblAlgn val="ctr"/>
        <c:noMultiLvlLbl val="1"/>
      </c:catAx>
      <c:valAx>
        <c:axId val="2094734552"/>
        <c:scaling>
          <c:orientation val="minMax"/>
          <c:max val="5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B0E14"/>
        </a:solidFill>
        <a:ln>
          <a:noFill/>
        </a:ln>
        <a:effectLst/>
      </c:spPr>
    </c:plotArea>
    <c:plotVisOnly val="1"/>
    <c:dispBlanksAs val="span"/>
  </c:chart>
  <c:spPr>
    <a:solidFill>
      <a:srgbClr val="0B0E14"/>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c:v>
                </c:pt>
              </c:strCache>
            </c:strRef>
          </c:tx>
          <c:spPr>
            <a:solidFill>
              <a:srgbClr val="FF9F43"/>
            </a:solidFill>
            <a:effectLst/>
          </c:spPr>
          <c:invertIfNegative val="0"/>
          <c:dLbls>
            <c:numFmt formatCode="0.0" sourceLinked="0"/>
            <c:txPr>
              <a:bodyPr/>
              <a:lstStyle/>
              <a:p>
                <a:pPr>
                  <a:defRPr b="1" i="0" strike="noStrike" sz="1400" u="none">
                    <a:solidFill>
                      <a:srgbClr val="F2F4F8"/>
                    </a:solidFill>
                    <a:latin typeface="+mn-lt"/>
                  </a:defRPr>
                </a:pPr>
              </a:p>
            </c:txPr>
            <c:showLegendKey val="0"/>
            <c:showVal val="1"/>
            <c:showCatName val="0"/>
            <c:showSerName val="0"/>
            <c:showPercent val="0"/>
            <c:showBubbleSize val="0"/>
            <c:showLeaderLines val="0"/>
          </c:dLbls>
          <c:dPt>
            <c:idx val="0"/>
            <c:invertIfNegative val="0"/>
            <c:bubble3D val="0"/>
            <c:spPr>
              <a:solidFill>
                <a:srgbClr val="FF9F43"/>
              </a:solidFill>
              <a:effectLst/>
            </c:spPr>
          </c:dPt>
          <c:dPt>
            <c:idx val="1"/>
            <c:invertIfNegative val="0"/>
            <c:bubble3D val="0"/>
            <c:spPr>
              <a:solidFill>
                <a:srgbClr val="7D8796"/>
              </a:solidFill>
              <a:effectLst/>
            </c:spPr>
          </c:dPt>
          <c:dPt>
            <c:idx val="2"/>
            <c:invertIfNegative val="0"/>
            <c:bubble3D val="0"/>
            <c:spPr>
              <a:solidFill>
                <a:srgbClr val="C9CED6"/>
              </a:solidFill>
              <a:effectLst/>
            </c:spPr>
          </c:dPt>
          <c:dPt>
            <c:idx val="3"/>
            <c:invertIfNegative val="0"/>
            <c:bubble3D val="0"/>
            <c:spPr>
              <a:solidFill>
                <a:srgbClr val="2EE6A6"/>
              </a:solidFill>
              <a:effectLst/>
            </c:spPr>
          </c:dPt>
          <c:dPt>
            <c:idx val="4"/>
            <c:invertIfNegative val="0"/>
            <c:bubble3D val="0"/>
            <c:spPr>
              <a:solidFill>
                <a:srgbClr val="2EE6A6"/>
              </a:solidFill>
              <a:effectLst/>
            </c:spPr>
          </c:dPt>
          <c:dPt>
            <c:idx val="5"/>
            <c:invertIfNegative val="0"/>
            <c:bubble3D val="0"/>
            <c:spPr>
              <a:solidFill>
                <a:srgbClr val="2EE6A6"/>
              </a:solidFill>
              <a:effectLst/>
            </c:spPr>
          </c:dPt>
          <c:dPt>
            <c:idx val="6"/>
            <c:invertIfNegative val="0"/>
            <c:bubble3D val="0"/>
            <c:spPr>
              <a:solidFill>
                <a:srgbClr val="2EE6A6"/>
              </a:solidFill>
              <a:effectLst/>
            </c:spPr>
          </c:dPt>
          <c:dPt>
            <c:idx val="7"/>
            <c:invertIfNegative val="0"/>
            <c:bubble3D val="0"/>
            <c:spPr>
              <a:solidFill>
                <a:srgbClr val="2EE6A6"/>
              </a:solidFill>
              <a:effectLst/>
            </c:spPr>
          </c:dPt>
          <c:cat>
            <c:multiLvlStrRef>
              <c:f>Sheet1!$A$2:$A$9</c:f>
              <c:multiLvlStrCache>
                <c:ptCount val="8"/>
                <c:lvl>
                  <c:pt idx="0">
                    <c:v>Tiempo fijo (±8.5)</c:v>
                  </c:pt>
                  <c:pt idx="1">
                    <c:v>Actuado (±6.1)</c:v>
                  </c:pt>
                  <c:pt idx="2">
                    <c:v>Max-pressure (±2.5)</c:v>
                  </c:pt>
                  <c:pt idx="3">
                    <c:v>IDQN (±38.1)</c:v>
                  </c:pt>
                  <c:pt idx="4">
                    <c:v>IDQN + vecinos (±6.8)</c:v>
                  </c:pt>
                  <c:pt idx="5">
                    <c:v>QMIX (±20.5)</c:v>
                  </c:pt>
                  <c:pt idx="6">
                    <c:v>MAPPO (±7.3)</c:v>
                  </c:pt>
                  <c:pt idx="7">
                    <c:v>Comunicación (±14.9)</c:v>
                  </c:pt>
                </c:lvl>
              </c:multiLvlStrCache>
            </c:multiLvlStrRef>
          </c:cat>
          <c:val>
            <c:numRef>
              <c:f>Sheet1!$B$2:$B$9</c:f>
              <c:numCache>
                <c:formatCode>General</c:formatCode>
                <c:ptCount val="8"/>
                <c:pt idx="0">
                  <c:v>79.1</c:v>
                </c:pt>
                <c:pt idx="1">
                  <c:v>63.4</c:v>
                </c:pt>
                <c:pt idx="2">
                  <c:v>41.7</c:v>
                </c:pt>
                <c:pt idx="3">
                  <c:v>64.1</c:v>
                </c:pt>
                <c:pt idx="4">
                  <c:v>51.9</c:v>
                </c:pt>
                <c:pt idx="5">
                  <c:v>55</c:v>
                </c:pt>
                <c:pt idx="6">
                  <c:v>46.8</c:v>
                </c:pt>
                <c:pt idx="7">
                  <c:v>46.2</c:v>
                </c:pt>
              </c:numCache>
            </c:numRef>
          </c:val>
        </c:ser>
        <c:dLbls>
          <c:numFmt formatCode="0.0" sourceLinked="0"/>
          <c:txPr>
            <a:bodyPr/>
            <a:lstStyle/>
            <a:p>
              <a:pPr>
                <a:defRPr b="1" i="0" strike="noStrike" sz="1400" u="none">
                  <a:solidFill>
                    <a:srgbClr val="F2F4F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F2F4F8"/>
                </a:solidFill>
                <a:latin typeface="+mn-lt"/>
              </a:defRPr>
            </a:pPr>
            <a:endParaRPr lang="en-US"/>
          </a:p>
        </c:txPr>
        <c:crossAx val="2094734552"/>
        <c:crosses val="autoZero"/>
        <c:auto val="1"/>
        <c:lblAlgn val="ctr"/>
        <c:noMultiLvlLbl val="1"/>
      </c:catAx>
      <c:valAx>
        <c:axId val="2094734552"/>
        <c:scaling>
          <c:orientation val="minMax"/>
          <c:max val="9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B0E14"/>
        </a:solidFill>
        <a:ln>
          <a:noFill/>
        </a:ln>
        <a:effectLst/>
      </c:spPr>
    </c:plotArea>
    <c:plotVisOnly val="1"/>
    <c:dispBlanksAs val="span"/>
  </c:chart>
  <c:spPr>
    <a:solidFill>
      <a:srgbClr val="0B0E14"/>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c:v>
                </c:pt>
              </c:strCache>
            </c:strRef>
          </c:tx>
          <c:spPr>
            <a:solidFill>
              <a:srgbClr val="FF9F43"/>
            </a:solidFill>
            <a:effectLst/>
          </c:spPr>
          <c:invertIfNegative val="0"/>
          <c:dLbls>
            <c:numFmt formatCode="0" sourceLinked="0"/>
            <c:txPr>
              <a:bodyPr/>
              <a:lstStyle/>
              <a:p>
                <a:pPr>
                  <a:defRPr b="1" i="0" strike="noStrike" sz="1400" u="none">
                    <a:solidFill>
                      <a:srgbClr val="F2F4F8"/>
                    </a:solidFill>
                    <a:latin typeface="+mn-lt"/>
                  </a:defRPr>
                </a:pPr>
              </a:p>
            </c:txPr>
            <c:showLegendKey val="0"/>
            <c:showVal val="1"/>
            <c:showCatName val="0"/>
            <c:showSerName val="0"/>
            <c:showPercent val="0"/>
            <c:showBubbleSize val="0"/>
            <c:showLeaderLines val="0"/>
          </c:dLbls>
          <c:dPt>
            <c:idx val="0"/>
            <c:invertIfNegative val="0"/>
            <c:bubble3D val="0"/>
            <c:spPr>
              <a:solidFill>
                <a:srgbClr val="FF9F43"/>
              </a:solidFill>
              <a:effectLst/>
            </c:spPr>
          </c:dPt>
          <c:dPt>
            <c:idx val="1"/>
            <c:invertIfNegative val="0"/>
            <c:bubble3D val="0"/>
            <c:spPr>
              <a:solidFill>
                <a:srgbClr val="7D8796"/>
              </a:solidFill>
              <a:effectLst/>
            </c:spPr>
          </c:dPt>
          <c:dPt>
            <c:idx val="2"/>
            <c:invertIfNegative val="0"/>
            <c:bubble3D val="0"/>
            <c:spPr>
              <a:solidFill>
                <a:srgbClr val="C9CED6"/>
              </a:solidFill>
              <a:effectLst/>
            </c:spPr>
          </c:dPt>
          <c:dPt>
            <c:idx val="3"/>
            <c:invertIfNegative val="0"/>
            <c:bubble3D val="0"/>
            <c:spPr>
              <a:solidFill>
                <a:srgbClr val="2EE6A6"/>
              </a:solidFill>
              <a:effectLst/>
            </c:spPr>
          </c:dPt>
          <c:dPt>
            <c:idx val="4"/>
            <c:invertIfNegative val="0"/>
            <c:bubble3D val="0"/>
            <c:spPr>
              <a:solidFill>
                <a:srgbClr val="2EE6A6"/>
              </a:solidFill>
              <a:effectLst/>
            </c:spPr>
          </c:dPt>
          <c:cat>
            <c:multiLvlStrRef>
              <c:f>Sheet1!$A$2:$A$6</c:f>
              <c:multiLvlStrCache>
                <c:ptCount val="5"/>
                <c:lvl>
                  <c:pt idx="0">
                    <c:v>Tiempo fijo</c:v>
                  </c:pt>
                  <c:pt idx="1">
                    <c:v>Actuado</c:v>
                  </c:pt>
                  <c:pt idx="2">
                    <c:v>Max-pressure</c:v>
                  </c:pt>
                  <c:pt idx="3">
                    <c:v>DQN</c:v>
                  </c:pt>
                  <c:pt idx="4">
                    <c:v>PPO</c:v>
                  </c:pt>
                </c:lvl>
              </c:multiLvlStrCache>
            </c:multiLvlStrRef>
          </c:cat>
          <c:val>
            <c:numRef>
              <c:f>Sheet1!$B$2:$B$6</c:f>
              <c:numCache>
                <c:formatCode>General</c:formatCode>
                <c:ptCount val="5"/>
                <c:pt idx="0">
                  <c:v>113</c:v>
                </c:pt>
                <c:pt idx="1">
                  <c:v>100</c:v>
                </c:pt>
                <c:pt idx="2">
                  <c:v>271</c:v>
                </c:pt>
                <c:pt idx="3">
                  <c:v>222</c:v>
                </c:pt>
                <c:pt idx="4">
                  <c:v>168</c:v>
                </c:pt>
              </c:numCache>
            </c:numRef>
          </c:val>
        </c:ser>
        <c:dLbls>
          <c:numFmt formatCode="0" sourceLinked="0"/>
          <c:txPr>
            <a:bodyPr/>
            <a:lstStyle/>
            <a:p>
              <a:pPr>
                <a:defRPr b="1" i="0" strike="noStrike" sz="1400" u="none">
                  <a:solidFill>
                    <a:srgbClr val="F2F4F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F2F4F8"/>
                </a:solidFill>
                <a:latin typeface="+mn-lt"/>
              </a:defRPr>
            </a:pPr>
            <a:endParaRPr lang="en-US"/>
          </a:p>
        </c:txPr>
        <c:crossAx val="2094734552"/>
        <c:crosses val="autoZero"/>
        <c:auto val="1"/>
        <c:lblAlgn val="ctr"/>
        <c:noMultiLvlLbl val="1"/>
      </c:catAx>
      <c:valAx>
        <c:axId val="2094734552"/>
        <c:scaling>
          <c:orientation val="minMax"/>
          <c:max val="33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B0E14"/>
        </a:solidFill>
        <a:ln>
          <a:noFill/>
        </a:ln>
        <a:effectLst/>
      </c:spPr>
    </c:plotArea>
    <c:plotVisOnly val="1"/>
    <c:dispBlanksAs val="span"/>
  </c:chart>
  <c:spPr>
    <a:solidFill>
      <a:srgbClr val="0B0E1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Somos &lt;completar integrantes&gt;. Presentamos nuestro proyecto final de Aprendizaje por Refuerzo: semáforos inteligentes en la Avenida La Reforma usando aprendizaje por refuerzo multiagente. La idea es sencilla de contar: tomamos un tramo real de Reforma con cinco semáforos consecutivos, lo simulamos en SUMO y comparamos, con el mismo protocolo, los controladores clásicos contra agentes que aprenden a decidir la siguiente fase. Les vamos a contar qué funcionó, qué no, y un hallazgo sobre la recompensa que cambió nuestras conclusiones. Al final hay una demo en vivo con los modelos entrenados.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Avenida La Reforma es uno de los ejes más cargados de la ciudad: un bulevar con arriate central, tres carriles por sentido y calles transversales de una vía. Sus semáforos funcionan con tiempos fijos: reparten el verde según un plan, sin saber cuántos vehículos esperan realmente en cada aproximación. &lt;dato: aquí va una cifra de congestión con fuente verificable; no la inventamos&gt;. Además, los cruces están a distancias muy desiguales, de 123 a 547 metros, así que coordinarlos no es trivial: entre la 15 y la 14 calle caben muy pocos carros y una cola bloquea enseguida al cruce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Nuestra pregunta tiene dos partes. Primero, cuánto reduce el aprendizaje por refuerzo multiagente la espera frente al control actual. Y segundo, si esa mejora se mantiene cuando cambian las condiciones. Para que la respuesta sea honesta comparamos contra tres referencias: el tiempo fijo, un controlador actuado y max-pressure, que es una regla clásica de la literatura y es exigente. Y para la segunda parte evaluamos en una hora que el agente no vio, el mediodía, con 30 % más demanda y con un carril cerrado por un incidente.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corredor que modelamos: 1.65 kilómetros de Reforma entre la Plaza Obelisco y la 5a calle, con cinco semáforos consecutivos. La red se construyó con las coordenadas, sentidos y carriles de OpenStreetMap, y está georreferenciada. Para los métodos de un solo agente recortamos el cruce de la 12 calle, en azul, que es el más cargado. El tramo en rojo es donde simulamos el incidente. Algo importante desde ya: los conteos vehiculares y el ciclo del semáforo fijo son sintéticos y provisionales. Los generó un script con valores plausibles; no son conteos de campo. Por eso nuestros resultados son una comparación metodológica entre controladores, no una predicción de lo que pasaría en la calle.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Formalmente, cada cruce es un MDP. El estado es la observación de sumo-rl: qué fase está activa, si ya se cumplió el verde mínimo, y la densidad y la cola de cada carril; en la 12 calle son 24 valores. La acción es elegir la siguiente fase verde cada 5 segundos; el amarillo y el verde mínimo los impone el entorno, por seguridad, no el agente. La recompensa es cuánto bajó la espera acumulada, y como veremos en un momento, incluye a los vehículos que esperan para entrar. En el corredor tenemos cinco agentes que solo ven su cruce: eso es un Dec-POMDP. Usamos recompensa de equipo y, en los métodos centralizados, un estado global que solo existe durante el entrenamiento. En ejecución cada semáforo decide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Comparamos una escalera de métodos. A la izquierda, tres líneas base sin aprendizaje: el tiempo fijo, calculado con Webster; el actuado de SUMO, que extiende el verde mientras detecta vehículos; y max-pressure, que en cada intervalo da verde a la fase con mayor diferencia de ocupación entre entrada y salida. En el cruce de la 12 calle probamos un agente: Q-Learning y Dyna-Q tabulares, DQN con sus tres mejoras, y PPO. En el corredor completo, multiagente: aprendices independientes IDQN, QMIX, MAPPO con crítico centralizado y comunicación aprendida al estilo DIAL. En total, 16 configuraciones de RL, todas con la misma fábrica de entornos y el mismo presupuesto.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hallazgo que más nos enseñó. En las primeras corridas, todos los agentes parecían aprender y le ganaban al tiempo fijo en espera media. Por ejemplo, un DQN bajaba la espera a 14.9 segundos contra 29.2 del fijo. Pero mirando más de cerca, habían aprendido a cerrar una entrada: casi 5 % de la demanda nunca entraba a la red. La recompensa de sumo-rl solo cuenta la espera sobre los carriles, y cuando un carril se llena la penalización queda acotada; los que no caben esperan afuera gratis. Contando a esos vehículos, la demora total era 97.1 segundos, tres veces la del fijo. La corrección fue doble: entrenar con una recompensa que suma la espera de los pendientes, y medir todo con la demora total por vehículo demandado, que no se puede mejorar dejando autos fuera. El mismo DQN bajó a 0.46 % de backlog y 34.4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que la comparación sea justa, todos los métodos de RL siguen el mismo protocolo. Cada configuración se entrena con cinco semillas y el mismo presupuesto: 200 episodios de una hora, que son 144 000 decisiones por agente. Cada 20 episodios guardamos un checkpoint y elegimos el mejor con dos semillas de validación. Ese modelo se evalúa en diez episodios con semillas que nunca se usaron para entrenar ni para elegir. Reportamos media e intervalo de confianza del 95 %, donde la unidad es la semilla de entrenamiento, y comparamos con la prueba t de Welch corregida por Holm. Con cinco semillas el poder es bajo: «sin diferencia detectable» no significa «iguales». Y la métrica principal es la demora total que acabamos de explicar.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experimento responde qué tan bueno es lo actual. En el corredor en hora pico, el tiempo fijo tiene 79.1 segundos de demora total por vehículo, el actuado 63.4 y max-pressure 41.7: casi la mitad que el fijo. En el cruce de la 12 calle pasa lo mismo, 19.8 contra 33.6. Max-pressure también deja el menor backlog. Esto es importante para el resto de la charla: max-pressure es una regla de una línea que no aprende nada, y aun así es la vara más alta. Con 30 % más demanda el corredor se satura en las tres líneas base, con entre 12.7 y 15.7 % de la demanda sin poder entrar.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cruce aislado probamos tres preguntas. E2: ¿ayuda planificar? No. Dyna-Q con 50 pasos de planificación quedó incluso 8 segundos peor que Q-Learning, sin diferencia detectable, y ningún método tabular alcanzó al tiempo fijo; además dejan autos afuera. E3: ¿qué mejora de DQN aporta más? Ninguna se separa del ruido; la versión completa con Double, Dueling y PER tiene la media más baja, 21.1 segundos, y es la que usamos después. E4: DQN contra PPO. Rinden parecido: 21.1 contra 23.8 segundos, sin diferencia detectable entre ellos ni con max-pressure, que tiene 19.8. Los dos bajan claramente la demora frente al fijo y al actuado.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corredor completo, E5 compara qué tan centralizado es el entrenamiento. MAPPO obtiene 46.8 segundos: 41 % menos que el tiempo fijo y 26 % menos que el actuado, ambos significativos tras Holm. El orden de las medias es el esperado, MAPPO, luego QMIX, luego IDQN, y sobre todo MAPPO es mucho más estable entre semillas; pero con cinco semillas esas diferencias no son detectables. Lo central: MAPPO queda 5.1 segundos por encima de max-pressure, sin diferencia detectable. En E6, la comunicación aprendida baja la media de IDQN al nivel de MAPPO, 46.2 segundos, pero no vemos ola verde: los vehículos paran más veces que con cualquier línea base. La ganancia viene de vaciar colas, no de sincronizar cruces.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E7 pregunta si el mejor agente generaliza. A mediodía, una hora que no vio, todos los agentes siguen ganándole al tiempo fijo, y MAPPO tiene la menor demora del corredor. Con el carril cerrado, MAPPO y comunicación mejoran al fijo y al actuado, pero no a max-pressure. En el cruce aislado, con dos carriles cerrados en la aproximación sur, DQN y PPO mejoran 16 % al tiempo fijo pero quedan 21 % por detrás de max-pressure. La caída está con 30 % más demanda: MAPPO sube a 373 segundos, 8 % peor que el tiempo fijo y 48 % peor que max-pressure, y deja casi un cuarto de la demanda sin entrar. Con las cinco semillas de E5 el resultado es el mismo. Su demora se multiplica por 10 respecto de la hora pico, contra 6 de max-pressure. Ojo: aquí cada agente es una sola semilla, la mejor en validación, así que la tabla incluso favorece a los agentes. Lo aprendido no se sostiene fuera del rango de demanda del entrenamiento.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E8 pregunta si se sacrifica a las calles transversales. En el cruce aislado, sí: max-pressure, DQN y PPO bajan la demora total favoreciendo a Reforma, y la espera máxima de un vehículo en la 12 calle sube de 113 segundos con el fijo a entre 168 y 271. PPO es el más equitativo de los aprendidos. Es el trade-off clásico entre eficiencia y equidad. En el corredor, en promedio, ese costo no apareció: MAPPO tiene esperas máximas en transversales menores que las líneas base, aunque alguna semilla individual sí abandonó una calle. Probamos una penalización de equidad: ayudó a QMIX pero no fue detectable. Y en CO2, los que menos emiten son el actuado y max-pressure; los agentes paran más veces y quedan entre −8.4 y +2.7 % respecto del fijo.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figura resume todo. A la izquierda el corredor, a la derecha el cruce; las líneas punteadas son el tiempo fijo y max-pressure. Los mejores métodos aprendidos, MAPPO y comunicación en el corredor y DQN y PPO en el cruce, mejoran claramente al tiempo fijo y al actuado. Pero quedan en la misma banda que max-pressure o un poco por encima. Los métodos tabulares ni siquiera llegan al tiempo fijo. Fíjense también en el ancho de los intervalos: IDQN y QMIX varían mucho entre semillas, y MAPPO es el más estable de los multiagente. Recuerden que la magnitud frente al fijo depende de conteos sintéticos; la comparación contra max-pressure depende menos de ese supuesto, porque todos ven exactamente la misma demanda.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la demo. Son dos simulaciones de SUMO corriendo en paralelo con la misma demanda y la misma semilla: a la izquierda el semáforo de tiempo fijo y a la derecha MAPPO, el modelo entrenado real. Vamos a: uno, arrancar en hora pico y acelerar para ver cómo se separan las curvas; dos, inyectar carros en la entrada sur y en la 12 calle; tres, cerrar dos carriles entre la 12 y la 10a calle y ver cómo crece la cola. Una aclaración: la tarjeta «Mejora» usa la espera promedio en vivo, que no es la demora total de la evaluación; los números oficiales son los que ya mostramos. Si algo falla, tenemos el video de respaldo de tres minutos y 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cosas que nuestro modelo no ve y que importan. No hay peatones: un controlador que solo optimiza demora vehicular puede recortar las ventanas para cruzar, así que las fases peatonales deberían ser una restricción dura. No sabe que existen las ambulancias: esa prioridad tiene que ir por encima del agente. Y la recompensa cuenta vehículos, no personas, así que no distingue un bus lleno de un carro. Entre las limitaciones: los datos son sintéticos, cinco semillas dan poco poder estadístico, y en la simulación el agente ve colas exactas por carril, algo que en la calle exigiría detectores en cada carril. Además, optimizar demora total es una decisión de valores: en el cruce ganan quienes van por la avenida y pierden las transversales. Eso debería decidirse con la Municipalidad y la ciudadanía.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Respondiendo la pregunta, con datos sintéticos: primero, sí hay mejora frente al control actual: MAPPO baja la demora total 41 % en el corredor y DQN 37 % en el cruce. Segundo, ningún método aprendido superó a max-pressure: una regla clásica bien implementada fue la vara que el RL no pasó con este presupuesto. Tercero, los agentes se degradan más que las reglas clásicas cuando la demanda sale del rango de entrenamiento. Y cuarto, un hallazgo metodológico: con la recompensa estándar y la espera media, todos habrían parecido mejores mientras bloqueaban entradas. Como trabajo futuro, lo primero son datos reales; después, peatones, buses y motos, más semillas y entrenamiento con demanda variable, y usar max-pressure como respaldo o punto de partida del agente.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Declaramos que usamos IA generativa de forma intensiva. La herramienta principal fue Claude Code, un asistente de programación que trabaja desde la terminal. Con él redactamos el plan y los contratos entre módulos, y varios agentes trabajaron en paralelo, cada uno en su rama: red y demanda, líneas base, métodos, experimentos, demo web y análisis. También generó los borradores del informe y de esta presentación a partir de las tablas de resultados. El asistente puede equivocarse de formas difíciles de notar, por eso el equipo revisó el código y los números y asume la responsabilidad. &lt;completar: qué verificó el equipo a mano y otras herramientas usadas&gt;.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En resumen: el RL multiagente le gana al semáforo fijo y al actuado en nuestra simulación, pero una regla clásica como max-pressure sigue siendo igual o mejor, y los agentes se degradan con más demanda. El código, el informe y los resultados están en el repositorio. Con gusto respondemos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lstStyle>
            <a:lvl1pPr indent="0" marL="0">
              <a:buNone/>
              <a:defRPr lang="en-US" sz="3000" b="1" dirty="0">
                <a:solidFill>
                  <a:schemeClr val="bg1"/>
                </a:solidFill>
                <a:latin typeface="Arial" pitchFamily="34" charset="0"/>
                <a:ea typeface="Arial" pitchFamily="34" charset="-122"/>
                <a:cs typeface="Arial" pitchFamily="34" charset="-120"/>
              </a:defRPr>
            </a:lvl1pPr>
          </a:lstStyle>
          <a:p>
            <a:pPr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bg2"/>
                </a:solidFill>
              </a:rPr>
              <a:t>Semáforos inteligentes en Av. La Reforma · CC3104 · UVG 2026</a:t>
            </a:r>
            <a:endParaRPr lang="en-US" sz="10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urso"/>
          <p:cNvSpPr txBox="1"/>
          <p:nvPr/>
        </p:nvSpPr>
        <p:spPr>
          <a:xfrm>
            <a:off x="731520" y="1188720"/>
            <a:ext cx="8229600" cy="365760"/>
          </a:xfrm>
          <a:prstGeom prst="rect">
            <a:avLst/>
          </a:prstGeom>
          <a:noFill/>
          <a:ln/>
        </p:spPr>
        <p:txBody>
          <a:bodyPr wrap="square" lIns="0" tIns="0" rIns="0" bIns="0" rtlCol="0" anchor="t"/>
          <a:lstStyle/>
          <a:p>
            <a:pPr indent="0" marL="0">
              <a:spcAft>
                <a:spcPts val="600"/>
              </a:spcAft>
              <a:buNone/>
            </a:pPr>
            <a:r>
              <a:rPr lang="en-US" sz="1400" b="1" spc="200" kern="0" dirty="0">
                <a:solidFill>
                  <a:schemeClr val="accent1"/>
                </a:solidFill>
              </a:rPr>
              <a:t>CC3104 APRENDIZAJE POR REFUERZO · UVG · 2026</a:t>
            </a:r>
            <a:endParaRPr lang="en-US" sz="1400" dirty="0"/>
          </a:p>
        </p:txBody>
      </p:sp>
      <p:sp>
        <p:nvSpPr>
          <p:cNvPr id="3" name="titulo"/>
          <p:cNvSpPr txBox="1"/>
          <p:nvPr/>
        </p:nvSpPr>
        <p:spPr>
          <a:xfrm>
            <a:off x="731520" y="1691640"/>
            <a:ext cx="8412480" cy="1920240"/>
          </a:xfrm>
          <a:prstGeom prst="rect">
            <a:avLst/>
          </a:prstGeom>
          <a:noFill/>
          <a:ln/>
        </p:spPr>
        <p:txBody>
          <a:bodyPr wrap="square" lIns="0" tIns="0" rIns="0" bIns="0" rtlCol="0" anchor="t"/>
          <a:lstStyle/>
          <a:p>
            <a:pPr indent="0" marL="0">
              <a:buNone/>
            </a:pPr>
            <a:r>
              <a:rPr lang="en-US" sz="4800" b="1" dirty="0">
                <a:solidFill>
                  <a:schemeClr val="bg1"/>
                </a:solidFill>
              </a:rPr>
              <a:t>Semáforos inteligentes</a:t>
            </a:r>
            <a:endParaRPr lang="en-US" sz="4800" dirty="0"/>
          </a:p>
          <a:p>
            <a:pPr indent="0" marL="0">
              <a:buNone/>
            </a:pPr>
            <a:r>
              <a:rPr lang="en-US" sz="4800" b="1" dirty="0">
                <a:solidFill>
                  <a:schemeClr val="accent1"/>
                </a:solidFill>
              </a:rPr>
              <a:t>en Av. La Reforma</a:t>
            </a:r>
            <a:endParaRPr lang="en-US" sz="4800" dirty="0"/>
          </a:p>
        </p:txBody>
      </p:sp>
      <p:sp>
        <p:nvSpPr>
          <p:cNvPr id="4" name="subtitulo"/>
          <p:cNvSpPr txBox="1"/>
          <p:nvPr/>
        </p:nvSpPr>
        <p:spPr>
          <a:xfrm>
            <a:off x="731520" y="3749040"/>
            <a:ext cx="7863840" cy="822960"/>
          </a:xfrm>
          <a:prstGeom prst="rect">
            <a:avLst/>
          </a:prstGeom>
          <a:noFill/>
          <a:ln/>
        </p:spPr>
        <p:txBody>
          <a:bodyPr wrap="square" lIns="0" tIns="0" rIns="0" bIns="0" rtlCol="0" anchor="t"/>
          <a:lstStyle/>
          <a:p>
            <a:pPr indent="0" marL="0">
              <a:spcAft>
                <a:spcPts val="600"/>
              </a:spcAft>
              <a:buNone/>
            </a:pPr>
            <a:r>
              <a:rPr lang="en-US" sz="2200" dirty="0">
                <a:solidFill>
                  <a:schemeClr val="bg2"/>
                </a:solidFill>
              </a:rPr>
              <a:t>Aprendizaje por refuerzo multiagente en un corredor real de 5 cruces</a:t>
            </a:r>
            <a:endParaRPr lang="en-US" sz="2200" dirty="0"/>
          </a:p>
        </p:txBody>
      </p:sp>
      <p:sp>
        <p:nvSpPr>
          <p:cNvPr id="5" name="integrantes"/>
          <p:cNvSpPr txBox="1"/>
          <p:nvPr/>
        </p:nvSpPr>
        <p:spPr>
          <a:xfrm>
            <a:off x="731520" y="5120640"/>
            <a:ext cx="7315200" cy="411480"/>
          </a:xfrm>
          <a:prstGeom prst="rect">
            <a:avLst/>
          </a:prstGeom>
          <a:noFill/>
          <a:ln/>
        </p:spPr>
        <p:txBody>
          <a:bodyPr wrap="square" lIns="0" tIns="0" rIns="0" bIns="0" rtlCol="0" anchor="t"/>
          <a:lstStyle/>
          <a:p>
            <a:pPr indent="0" marL="0">
              <a:spcAft>
                <a:spcPts val="600"/>
              </a:spcAft>
              <a:buNone/>
            </a:pPr>
            <a:r>
              <a:rPr lang="en-US" sz="1800" dirty="0">
                <a:solidFill>
                  <a:schemeClr val="bg1"/>
                </a:solidFill>
              </a:rPr>
              <a:t>Integrantes: &lt;completar&gt;</a:t>
            </a:r>
            <a:endParaRPr lang="en-US" sz="1800" dirty="0"/>
          </a:p>
        </p:txBody>
      </p:sp>
      <p:sp>
        <p:nvSpPr>
          <p:cNvPr id="6" name="semaforo caja"/>
          <p:cNvSpPr/>
          <p:nvPr/>
        </p:nvSpPr>
        <p:spPr>
          <a:xfrm>
            <a:off x="9692640" y="1280160"/>
            <a:ext cx="1371600" cy="3931920"/>
          </a:xfrm>
          <a:prstGeom prst="roundRect">
            <a:avLst>
              <a:gd name="adj" fmla="val 20000"/>
            </a:avLst>
          </a:prstGeom>
          <a:solidFill>
            <a:schemeClr val="tx2"/>
          </a:solidFill>
          <a:ln w="12700">
            <a:solidFill>
              <a:schemeClr val="accent6"/>
            </a:solidFill>
            <a:prstDash val="solid"/>
          </a:ln>
        </p:spPr>
      </p:sp>
      <p:sp>
        <p:nvSpPr>
          <p:cNvPr id="7" name="luz 0"/>
          <p:cNvSpPr/>
          <p:nvPr/>
        </p:nvSpPr>
        <p:spPr>
          <a:xfrm>
            <a:off x="9921240" y="1554480"/>
            <a:ext cx="914400" cy="914400"/>
          </a:xfrm>
          <a:prstGeom prst="ellipse">
            <a:avLst/>
          </a:prstGeom>
          <a:solidFill>
            <a:srgbClr val="FF6B6B">
              <a:alpha val="25000"/>
            </a:srgbClr>
          </a:solidFill>
          <a:ln w="12700">
            <a:solidFill>
              <a:srgbClr val="FF6B6B"/>
            </a:solidFill>
            <a:prstDash val="solid"/>
          </a:ln>
        </p:spPr>
      </p:sp>
      <p:sp>
        <p:nvSpPr>
          <p:cNvPr id="8" name="luz 1"/>
          <p:cNvSpPr/>
          <p:nvPr/>
        </p:nvSpPr>
        <p:spPr>
          <a:xfrm>
            <a:off x="9921240" y="2743200"/>
            <a:ext cx="914400" cy="914400"/>
          </a:xfrm>
          <a:prstGeom prst="ellipse">
            <a:avLst/>
          </a:prstGeom>
          <a:solidFill>
            <a:srgbClr val="FF9F43">
              <a:alpha val="25000"/>
            </a:srgbClr>
          </a:solidFill>
          <a:ln w="12700">
            <a:solidFill>
              <a:srgbClr val="FF9F43"/>
            </a:solidFill>
            <a:prstDash val="solid"/>
          </a:ln>
        </p:spPr>
      </p:sp>
      <p:sp>
        <p:nvSpPr>
          <p:cNvPr id="9" name="luz 2"/>
          <p:cNvSpPr/>
          <p:nvPr/>
        </p:nvSpPr>
        <p:spPr>
          <a:xfrm>
            <a:off x="9921240" y="3931920"/>
            <a:ext cx="914400" cy="914400"/>
          </a:xfrm>
          <a:prstGeom prst="ellipse">
            <a:avLst/>
          </a:prstGeom>
          <a:solidFill>
            <a:srgbClr val="2EE6A6"/>
          </a:solidFill>
          <a:ln w="12700">
            <a:solidFill>
              <a:srgbClr val="2EE6A6"/>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000" b="1" dirty="0">
                <a:solidFill>
                  <a:schemeClr val="bg1"/>
                </a:solidFill>
                <a:latin typeface="Arial" pitchFamily="34" charset="0"/>
                <a:ea typeface="Arial" pitchFamily="34" charset="-122"/>
                <a:cs typeface="Arial" pitchFamily="34" charset="-120"/>
              </a:rPr>
              <a:t>El problema: semáforos que no ven la demanda</a:t>
            </a:r>
            <a:endParaRPr lang="en-US" sz="3000" dirty="0"/>
          </a:p>
        </p:txBody>
      </p:sp>
      <p:sp>
        <p:nvSpPr>
          <p:cNvPr id="3" name="mensaje"/>
          <p:cNvSpPr txBox="1"/>
          <p:nvPr/>
        </p:nvSpPr>
        <p:spPr>
          <a:xfrm>
            <a:off x="548640" y="1463040"/>
            <a:ext cx="5669280" cy="1280160"/>
          </a:xfrm>
          <a:prstGeom prst="rect">
            <a:avLst/>
          </a:prstGeom>
          <a:noFill/>
          <a:ln/>
        </p:spPr>
        <p:txBody>
          <a:bodyPr wrap="square" lIns="0" tIns="0" rIns="0" bIns="0" rtlCol="0" anchor="t"/>
          <a:lstStyle/>
          <a:p>
            <a:pPr indent="0" marL="0">
              <a:spcAft>
                <a:spcPts val="600"/>
              </a:spcAft>
              <a:buNone/>
            </a:pPr>
            <a:r>
              <a:rPr lang="en-US" sz="2200" dirty="0">
                <a:solidFill>
                  <a:schemeClr val="bg1"/>
                </a:solidFill>
              </a:rPr>
              <a:t>Los semáforos de tiempo fijo reparten el verde sin saber cuántos vehículos esperan en cada aproximación.</a:t>
            </a:r>
            <a:endParaRPr lang="en-US" sz="2200" dirty="0"/>
          </a:p>
        </p:txBody>
      </p:sp>
      <p:sp>
        <p:nvSpPr>
          <p:cNvPr id="4" name="dato pendiente"/>
          <p:cNvSpPr/>
          <p:nvPr/>
        </p:nvSpPr>
        <p:spPr>
          <a:xfrm>
            <a:off x="548640" y="3108960"/>
            <a:ext cx="5669280" cy="1463040"/>
          </a:xfrm>
          <a:prstGeom prst="roundRect">
            <a:avLst>
              <a:gd name="adj" fmla="val 7500"/>
            </a:avLst>
          </a:prstGeom>
          <a:solidFill>
            <a:schemeClr val="tx1"/>
          </a:solidFill>
          <a:ln w="15875">
            <a:solidFill>
              <a:schemeClr val="accent2"/>
            </a:solidFill>
            <a:prstDash val="dash"/>
          </a:ln>
        </p:spPr>
      </p:sp>
      <p:sp>
        <p:nvSpPr>
          <p:cNvPr id="5" name="dato texto"/>
          <p:cNvSpPr txBox="1"/>
          <p:nvPr/>
        </p:nvSpPr>
        <p:spPr>
          <a:xfrm>
            <a:off x="822960" y="3291840"/>
            <a:ext cx="5120640" cy="1097280"/>
          </a:xfrm>
          <a:prstGeom prst="rect">
            <a:avLst/>
          </a:prstGeom>
          <a:noFill/>
          <a:ln/>
        </p:spPr>
        <p:txBody>
          <a:bodyPr wrap="square" lIns="0" tIns="0" rIns="0" bIns="0" rtlCol="0" anchor="ctr"/>
          <a:lstStyle/>
          <a:p>
            <a:pPr indent="0" marL="0">
              <a:spcAft>
                <a:spcPts val="600"/>
              </a:spcAft>
              <a:buNone/>
            </a:pPr>
            <a:r>
              <a:rPr lang="en-US" sz="1800" dirty="0">
                <a:solidFill>
                  <a:schemeClr val="accent2"/>
                </a:solidFill>
              </a:rPr>
              <a:t>&lt;dato: cifra de congestión en Ciudad de Guatemala con fuente verificable&gt;</a:t>
            </a:r>
            <a:endParaRPr lang="en-US" sz="1800" dirty="0"/>
          </a:p>
        </p:txBody>
      </p:sp>
      <p:sp>
        <p:nvSpPr>
          <p:cNvPr id="6" name="tarjeta 1.65 km"/>
          <p:cNvSpPr/>
          <p:nvPr/>
        </p:nvSpPr>
        <p:spPr>
          <a:xfrm>
            <a:off x="6766560" y="1463040"/>
            <a:ext cx="4873752" cy="1325880"/>
          </a:xfrm>
          <a:prstGeom prst="roundRect">
            <a:avLst>
              <a:gd name="adj" fmla="val 8276"/>
            </a:avLst>
          </a:prstGeom>
          <a:solidFill>
            <a:schemeClr val="tx2"/>
          </a:solidFill>
          <a:ln w="9525">
            <a:solidFill>
              <a:schemeClr val="accent6"/>
            </a:solidFill>
            <a:prstDash val="solid"/>
          </a:ln>
        </p:spPr>
      </p:sp>
      <p:sp>
        <p:nvSpPr>
          <p:cNvPr id="7" name="cifra 1.65 km"/>
          <p:cNvSpPr txBox="1"/>
          <p:nvPr/>
        </p:nvSpPr>
        <p:spPr>
          <a:xfrm>
            <a:off x="6995160" y="1645920"/>
            <a:ext cx="2697480" cy="960120"/>
          </a:xfrm>
          <a:prstGeom prst="rect">
            <a:avLst/>
          </a:prstGeom>
          <a:noFill/>
          <a:ln/>
        </p:spPr>
        <p:txBody>
          <a:bodyPr wrap="square" lIns="0" tIns="0" rIns="0" bIns="0" rtlCol="0" anchor="ctr"/>
          <a:lstStyle/>
          <a:p>
            <a:pPr indent="0" marL="0">
              <a:buNone/>
            </a:pPr>
            <a:r>
              <a:rPr lang="en-US" sz="3000" b="1" dirty="0">
                <a:solidFill>
                  <a:schemeClr val="accent1"/>
                </a:solidFill>
              </a:rPr>
              <a:t>1.65 km</a:t>
            </a:r>
            <a:endParaRPr lang="en-US" sz="3000" dirty="0"/>
          </a:p>
        </p:txBody>
      </p:sp>
      <p:sp>
        <p:nvSpPr>
          <p:cNvPr id="8" name="etiqueta 1.65 km"/>
          <p:cNvSpPr txBox="1"/>
          <p:nvPr/>
        </p:nvSpPr>
        <p:spPr>
          <a:xfrm>
            <a:off x="9738360" y="1645920"/>
            <a:ext cx="1783080" cy="960120"/>
          </a:xfrm>
          <a:prstGeom prst="rect">
            <a:avLst/>
          </a:prstGeom>
          <a:noFill/>
          <a:ln/>
        </p:spPr>
        <p:txBody>
          <a:bodyPr wrap="square" lIns="0" tIns="0" rIns="0" bIns="0" rtlCol="0" anchor="ctr"/>
          <a:lstStyle/>
          <a:p>
            <a:pPr indent="0" marL="0">
              <a:spcAft>
                <a:spcPts val="600"/>
              </a:spcAft>
              <a:buNone/>
            </a:pPr>
            <a:r>
              <a:rPr lang="en-US" sz="1500" dirty="0">
                <a:solidFill>
                  <a:schemeClr val="bg2"/>
                </a:solidFill>
              </a:rPr>
              <a:t>corredor en zonas 9 y 10</a:t>
            </a:r>
            <a:endParaRPr lang="en-US" sz="1500" dirty="0"/>
          </a:p>
        </p:txBody>
      </p:sp>
      <p:sp>
        <p:nvSpPr>
          <p:cNvPr id="9" name="tarjeta 5"/>
          <p:cNvSpPr/>
          <p:nvPr/>
        </p:nvSpPr>
        <p:spPr>
          <a:xfrm>
            <a:off x="6766560" y="2971800"/>
            <a:ext cx="4873752" cy="1325880"/>
          </a:xfrm>
          <a:prstGeom prst="roundRect">
            <a:avLst>
              <a:gd name="adj" fmla="val 8276"/>
            </a:avLst>
          </a:prstGeom>
          <a:solidFill>
            <a:schemeClr val="tx2"/>
          </a:solidFill>
          <a:ln w="9525">
            <a:solidFill>
              <a:schemeClr val="accent6"/>
            </a:solidFill>
            <a:prstDash val="solid"/>
          </a:ln>
        </p:spPr>
      </p:sp>
      <p:sp>
        <p:nvSpPr>
          <p:cNvPr id="10" name="cifra 5"/>
          <p:cNvSpPr txBox="1"/>
          <p:nvPr/>
        </p:nvSpPr>
        <p:spPr>
          <a:xfrm>
            <a:off x="6995160" y="3154680"/>
            <a:ext cx="2697480" cy="960120"/>
          </a:xfrm>
          <a:prstGeom prst="rect">
            <a:avLst/>
          </a:prstGeom>
          <a:noFill/>
          <a:ln/>
        </p:spPr>
        <p:txBody>
          <a:bodyPr wrap="square" lIns="0" tIns="0" rIns="0" bIns="0" rtlCol="0" anchor="ctr"/>
          <a:lstStyle/>
          <a:p>
            <a:pPr indent="0" marL="0">
              <a:buNone/>
            </a:pPr>
            <a:r>
              <a:rPr lang="en-US" sz="3000" b="1" dirty="0">
                <a:solidFill>
                  <a:schemeClr val="accent1"/>
                </a:solidFill>
              </a:rPr>
              <a:t>5</a:t>
            </a:r>
            <a:endParaRPr lang="en-US" sz="3000" dirty="0"/>
          </a:p>
        </p:txBody>
      </p:sp>
      <p:sp>
        <p:nvSpPr>
          <p:cNvPr id="11" name="etiqueta 5"/>
          <p:cNvSpPr txBox="1"/>
          <p:nvPr/>
        </p:nvSpPr>
        <p:spPr>
          <a:xfrm>
            <a:off x="9738360" y="3154680"/>
            <a:ext cx="1783080" cy="960120"/>
          </a:xfrm>
          <a:prstGeom prst="rect">
            <a:avLst/>
          </a:prstGeom>
          <a:noFill/>
          <a:ln/>
        </p:spPr>
        <p:txBody>
          <a:bodyPr wrap="square" lIns="0" tIns="0" rIns="0" bIns="0" rtlCol="0" anchor="ctr"/>
          <a:lstStyle/>
          <a:p>
            <a:pPr indent="0" marL="0">
              <a:spcAft>
                <a:spcPts val="600"/>
              </a:spcAft>
              <a:buNone/>
            </a:pPr>
            <a:r>
              <a:rPr lang="en-US" sz="1500" dirty="0">
                <a:solidFill>
                  <a:schemeClr val="bg2"/>
                </a:solidFill>
              </a:rPr>
              <a:t>semáforos consecutivos</a:t>
            </a:r>
            <a:endParaRPr lang="en-US" sz="1500" dirty="0"/>
          </a:p>
        </p:txBody>
      </p:sp>
      <p:sp>
        <p:nvSpPr>
          <p:cNvPr id="12" name="tarjeta 123–547 m"/>
          <p:cNvSpPr/>
          <p:nvPr/>
        </p:nvSpPr>
        <p:spPr>
          <a:xfrm>
            <a:off x="6766560" y="4480560"/>
            <a:ext cx="4873752" cy="1325880"/>
          </a:xfrm>
          <a:prstGeom prst="roundRect">
            <a:avLst>
              <a:gd name="adj" fmla="val 8276"/>
            </a:avLst>
          </a:prstGeom>
          <a:solidFill>
            <a:schemeClr val="tx2"/>
          </a:solidFill>
          <a:ln w="9525">
            <a:solidFill>
              <a:schemeClr val="accent6"/>
            </a:solidFill>
            <a:prstDash val="solid"/>
          </a:ln>
        </p:spPr>
      </p:sp>
      <p:sp>
        <p:nvSpPr>
          <p:cNvPr id="13" name="cifra 123–547 m"/>
          <p:cNvSpPr txBox="1"/>
          <p:nvPr/>
        </p:nvSpPr>
        <p:spPr>
          <a:xfrm>
            <a:off x="6995160" y="4663440"/>
            <a:ext cx="2697480" cy="960120"/>
          </a:xfrm>
          <a:prstGeom prst="rect">
            <a:avLst/>
          </a:prstGeom>
          <a:noFill/>
          <a:ln/>
        </p:spPr>
        <p:txBody>
          <a:bodyPr wrap="square" lIns="0" tIns="0" rIns="0" bIns="0" rtlCol="0" anchor="ctr"/>
          <a:lstStyle/>
          <a:p>
            <a:pPr indent="0" marL="0">
              <a:buNone/>
            </a:pPr>
            <a:r>
              <a:rPr lang="en-US" sz="3000" b="1" dirty="0">
                <a:solidFill>
                  <a:schemeClr val="accent1"/>
                </a:solidFill>
              </a:rPr>
              <a:t>123–547 m</a:t>
            </a:r>
            <a:endParaRPr lang="en-US" sz="3000" dirty="0"/>
          </a:p>
        </p:txBody>
      </p:sp>
      <p:sp>
        <p:nvSpPr>
          <p:cNvPr id="14" name="etiqueta 123–547 m"/>
          <p:cNvSpPr txBox="1"/>
          <p:nvPr/>
        </p:nvSpPr>
        <p:spPr>
          <a:xfrm>
            <a:off x="9738360" y="4663440"/>
            <a:ext cx="1783080" cy="960120"/>
          </a:xfrm>
          <a:prstGeom prst="rect">
            <a:avLst/>
          </a:prstGeom>
          <a:noFill/>
          <a:ln/>
        </p:spPr>
        <p:txBody>
          <a:bodyPr wrap="square" lIns="0" tIns="0" rIns="0" bIns="0" rtlCol="0" anchor="ctr"/>
          <a:lstStyle/>
          <a:p>
            <a:pPr indent="0" marL="0">
              <a:spcAft>
                <a:spcPts val="600"/>
              </a:spcAft>
              <a:buNone/>
            </a:pPr>
            <a:r>
              <a:rPr lang="en-US" sz="1500" dirty="0">
                <a:solidFill>
                  <a:schemeClr val="bg2"/>
                </a:solidFill>
              </a:rPr>
              <a:t>entre cruces: coordinación difícil</a:t>
            </a:r>
            <a:endParaRPr lang="en-US" sz="15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000" b="1" dirty="0">
                <a:solidFill>
                  <a:schemeClr val="bg1"/>
                </a:solidFill>
                <a:latin typeface="Arial" pitchFamily="34" charset="0"/>
                <a:ea typeface="Arial" pitchFamily="34" charset="-122"/>
                <a:cs typeface="Arial" pitchFamily="34" charset="-120"/>
              </a:rPr>
              <a:t>Pregunta de investigación</a:t>
            </a:r>
            <a:endParaRPr lang="en-US" sz="3000" dirty="0"/>
          </a:p>
        </p:txBody>
      </p:sp>
      <p:sp>
        <p:nvSpPr>
          <p:cNvPr id="3" name="tarjeta pregunta"/>
          <p:cNvSpPr/>
          <p:nvPr/>
        </p:nvSpPr>
        <p:spPr>
          <a:xfrm>
            <a:off x="548640" y="1463040"/>
            <a:ext cx="11094415" cy="2377440"/>
          </a:xfrm>
          <a:prstGeom prst="roundRect">
            <a:avLst>
              <a:gd name="adj" fmla="val 4615"/>
            </a:avLst>
          </a:prstGeom>
          <a:solidFill>
            <a:schemeClr val="tx2"/>
          </a:solidFill>
          <a:ln w="9525">
            <a:solidFill>
              <a:schemeClr val="accent6"/>
            </a:solidFill>
            <a:prstDash val="solid"/>
          </a:ln>
        </p:spPr>
      </p:sp>
      <p:sp>
        <p:nvSpPr>
          <p:cNvPr id="4" name="pregunta"/>
          <p:cNvSpPr txBox="1"/>
          <p:nvPr/>
        </p:nvSpPr>
        <p:spPr>
          <a:xfrm>
            <a:off x="1005840" y="1691640"/>
            <a:ext cx="10180015" cy="1920240"/>
          </a:xfrm>
          <a:prstGeom prst="rect">
            <a:avLst/>
          </a:prstGeom>
          <a:noFill/>
          <a:ln/>
        </p:spPr>
        <p:txBody>
          <a:bodyPr wrap="square" lIns="0" tIns="0" rIns="0" bIns="0" rtlCol="0" anchor="ctr"/>
          <a:lstStyle/>
          <a:p>
            <a:pPr indent="0" marL="0">
              <a:spcAft>
                <a:spcPts val="600"/>
              </a:spcAft>
              <a:buNone/>
            </a:pPr>
            <a:r>
              <a:rPr lang="en-US" sz="2600" b="1" dirty="0">
                <a:solidFill>
                  <a:schemeClr val="bg1"/>
                </a:solidFill>
              </a:rPr>
              <a:t>¿Cuánto reduce el RL multiagente el tiempo de espera en un corredor real de Guatemala frente al control actual, y se mantiene esa mejora ante condiciones que no vio en el entrenamiento?</a:t>
            </a:r>
            <a:endParaRPr lang="en-US" sz="2600" dirty="0"/>
          </a:p>
        </p:txBody>
      </p:sp>
      <p:sp>
        <p:nvSpPr>
          <p:cNvPr id="5" name="chip Frente a tiempo fijo y actuado"/>
          <p:cNvSpPr/>
          <p:nvPr/>
        </p:nvSpPr>
        <p:spPr>
          <a:xfrm>
            <a:off x="548640" y="4343400"/>
            <a:ext cx="3520440" cy="1097280"/>
          </a:xfrm>
          <a:prstGeom prst="roundRect">
            <a:avLst>
              <a:gd name="adj" fmla="val 10000"/>
            </a:avLst>
          </a:prstGeom>
          <a:solidFill>
            <a:schemeClr val="tx2"/>
          </a:solidFill>
          <a:ln w="9525">
            <a:solidFill>
              <a:schemeClr val="accent6"/>
            </a:solidFill>
            <a:prstDash val="solid"/>
          </a:ln>
        </p:spPr>
      </p:sp>
      <p:sp>
        <p:nvSpPr>
          <p:cNvPr id="6" name="punto"/>
          <p:cNvSpPr/>
          <p:nvPr/>
        </p:nvSpPr>
        <p:spPr>
          <a:xfrm>
            <a:off x="822960" y="4791456"/>
            <a:ext cx="201168" cy="201168"/>
          </a:xfrm>
          <a:prstGeom prst="ellipse">
            <a:avLst/>
          </a:prstGeom>
          <a:solidFill>
            <a:srgbClr val="FF9F43"/>
          </a:solidFill>
          <a:ln w="12700">
            <a:solidFill>
              <a:srgbClr val="FF9F43"/>
            </a:solidFill>
            <a:prstDash val="solid"/>
          </a:ln>
        </p:spPr>
      </p:sp>
      <p:sp>
        <p:nvSpPr>
          <p:cNvPr id="7" name="chip texto 0"/>
          <p:cNvSpPr txBox="1"/>
          <p:nvPr/>
        </p:nvSpPr>
        <p:spPr>
          <a:xfrm>
            <a:off x="1188720" y="4434840"/>
            <a:ext cx="2743200" cy="914400"/>
          </a:xfrm>
          <a:prstGeom prst="rect">
            <a:avLst/>
          </a:prstGeom>
          <a:noFill/>
          <a:ln/>
        </p:spPr>
        <p:txBody>
          <a:bodyPr wrap="square" lIns="0" tIns="0" rIns="0" bIns="0" rtlCol="0" anchor="ctr"/>
          <a:lstStyle/>
          <a:p>
            <a:pPr indent="0" marL="0">
              <a:spcAft>
                <a:spcPts val="600"/>
              </a:spcAft>
              <a:buNone/>
            </a:pPr>
            <a:r>
              <a:rPr lang="en-US" sz="1700" dirty="0">
                <a:solidFill>
                  <a:schemeClr val="bg1"/>
                </a:solidFill>
              </a:rPr>
              <a:t>Frente a tiempo fijo y actuado</a:t>
            </a:r>
            <a:endParaRPr lang="en-US" sz="1700" dirty="0"/>
          </a:p>
        </p:txBody>
      </p:sp>
      <p:sp>
        <p:nvSpPr>
          <p:cNvPr id="8" name="chip Frente a max-pressure"/>
          <p:cNvSpPr/>
          <p:nvPr/>
        </p:nvSpPr>
        <p:spPr>
          <a:xfrm>
            <a:off x="4297680" y="4343400"/>
            <a:ext cx="3520440" cy="1097280"/>
          </a:xfrm>
          <a:prstGeom prst="roundRect">
            <a:avLst>
              <a:gd name="adj" fmla="val 10000"/>
            </a:avLst>
          </a:prstGeom>
          <a:solidFill>
            <a:schemeClr val="tx2"/>
          </a:solidFill>
          <a:ln w="9525">
            <a:solidFill>
              <a:schemeClr val="accent6"/>
            </a:solidFill>
            <a:prstDash val="solid"/>
          </a:ln>
        </p:spPr>
      </p:sp>
      <p:sp>
        <p:nvSpPr>
          <p:cNvPr id="9" name="punto"/>
          <p:cNvSpPr/>
          <p:nvPr/>
        </p:nvSpPr>
        <p:spPr>
          <a:xfrm>
            <a:off x="4572000" y="4791456"/>
            <a:ext cx="201168" cy="201168"/>
          </a:xfrm>
          <a:prstGeom prst="ellipse">
            <a:avLst/>
          </a:prstGeom>
          <a:solidFill>
            <a:srgbClr val="C9CED6"/>
          </a:solidFill>
          <a:ln w="12700">
            <a:solidFill>
              <a:srgbClr val="C9CED6"/>
            </a:solidFill>
            <a:prstDash val="solid"/>
          </a:ln>
        </p:spPr>
      </p:sp>
      <p:sp>
        <p:nvSpPr>
          <p:cNvPr id="10" name="chip texto 1"/>
          <p:cNvSpPr txBox="1"/>
          <p:nvPr/>
        </p:nvSpPr>
        <p:spPr>
          <a:xfrm>
            <a:off x="4937760" y="4434840"/>
            <a:ext cx="2743200" cy="914400"/>
          </a:xfrm>
          <a:prstGeom prst="rect">
            <a:avLst/>
          </a:prstGeom>
          <a:noFill/>
          <a:ln/>
        </p:spPr>
        <p:txBody>
          <a:bodyPr wrap="square" lIns="0" tIns="0" rIns="0" bIns="0" rtlCol="0" anchor="ctr"/>
          <a:lstStyle/>
          <a:p>
            <a:pPr indent="0" marL="0">
              <a:spcAft>
                <a:spcPts val="600"/>
              </a:spcAft>
              <a:buNone/>
            </a:pPr>
            <a:r>
              <a:rPr lang="en-US" sz="1700" dirty="0">
                <a:solidFill>
                  <a:schemeClr val="bg1"/>
                </a:solidFill>
              </a:rPr>
              <a:t>Frente a max-pressure</a:t>
            </a:r>
            <a:endParaRPr lang="en-US" sz="1700" dirty="0"/>
          </a:p>
        </p:txBody>
      </p:sp>
      <p:sp>
        <p:nvSpPr>
          <p:cNvPr id="11" name="chip Hora no vista · +30 % · incidente"/>
          <p:cNvSpPr/>
          <p:nvPr/>
        </p:nvSpPr>
        <p:spPr>
          <a:xfrm>
            <a:off x="8046720" y="4343400"/>
            <a:ext cx="3520440" cy="1097280"/>
          </a:xfrm>
          <a:prstGeom prst="roundRect">
            <a:avLst>
              <a:gd name="adj" fmla="val 10000"/>
            </a:avLst>
          </a:prstGeom>
          <a:solidFill>
            <a:schemeClr val="tx2"/>
          </a:solidFill>
          <a:ln w="9525">
            <a:solidFill>
              <a:schemeClr val="accent6"/>
            </a:solidFill>
            <a:prstDash val="solid"/>
          </a:ln>
        </p:spPr>
      </p:sp>
      <p:sp>
        <p:nvSpPr>
          <p:cNvPr id="12" name="punto"/>
          <p:cNvSpPr/>
          <p:nvPr/>
        </p:nvSpPr>
        <p:spPr>
          <a:xfrm>
            <a:off x="8321040" y="4791456"/>
            <a:ext cx="201168" cy="201168"/>
          </a:xfrm>
          <a:prstGeom prst="ellipse">
            <a:avLst/>
          </a:prstGeom>
          <a:solidFill>
            <a:srgbClr val="2EE6A6"/>
          </a:solidFill>
          <a:ln w="12700">
            <a:solidFill>
              <a:srgbClr val="2EE6A6"/>
            </a:solidFill>
            <a:prstDash val="solid"/>
          </a:ln>
        </p:spPr>
      </p:sp>
      <p:sp>
        <p:nvSpPr>
          <p:cNvPr id="13" name="chip texto 2"/>
          <p:cNvSpPr txBox="1"/>
          <p:nvPr/>
        </p:nvSpPr>
        <p:spPr>
          <a:xfrm>
            <a:off x="8686800" y="4434840"/>
            <a:ext cx="2743200" cy="914400"/>
          </a:xfrm>
          <a:prstGeom prst="rect">
            <a:avLst/>
          </a:prstGeom>
          <a:noFill/>
          <a:ln/>
        </p:spPr>
        <p:txBody>
          <a:bodyPr wrap="square" lIns="0" tIns="0" rIns="0" bIns="0" rtlCol="0" anchor="ctr"/>
          <a:lstStyle/>
          <a:p>
            <a:pPr indent="0" marL="0">
              <a:spcAft>
                <a:spcPts val="600"/>
              </a:spcAft>
              <a:buNone/>
            </a:pPr>
            <a:r>
              <a:rPr lang="en-US" sz="1700" dirty="0">
                <a:solidFill>
                  <a:schemeClr val="bg1"/>
                </a:solidFill>
              </a:rPr>
              <a:t>Hora no vista · +30 % · incidente</a:t>
            </a:r>
            <a:endParaRPr lang="en-US" sz="17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000" b="1" dirty="0">
                <a:solidFill>
                  <a:schemeClr val="bg1"/>
                </a:solidFill>
                <a:latin typeface="Arial" pitchFamily="34" charset="0"/>
                <a:ea typeface="Arial" pitchFamily="34" charset="-122"/>
                <a:cs typeface="Arial" pitchFamily="34" charset="-120"/>
              </a:rPr>
              <a:t>Escenario: corredor real de 5 cruces en SUMO</a:t>
            </a:r>
            <a:endParaRPr lang="en-US" sz="3000" dirty="0"/>
          </a:p>
        </p:txBody>
      </p:sp>
      <p:sp>
        <p:nvSpPr>
          <p:cNvPr id="3" name="Figura corredor de Reforma marco"/>
          <p:cNvSpPr/>
          <p:nvPr/>
        </p:nvSpPr>
        <p:spPr>
          <a:xfrm>
            <a:off x="667512" y="1307592"/>
            <a:ext cx="3236976" cy="4946904"/>
          </a:xfrm>
          <a:prstGeom prst="roundRect">
            <a:avLst>
              <a:gd name="adj" fmla="val 3390"/>
            </a:avLst>
          </a:prstGeom>
          <a:solidFill>
            <a:srgbClr val="FFFFFF"/>
          </a:solidFill>
          <a:ln w="12700">
            <a:solidFill>
              <a:srgbClr val="FFFFFF"/>
            </a:solidFill>
            <a:prstDash val="solid"/>
          </a:ln>
        </p:spPr>
      </p:sp>
      <p:pic>
        <p:nvPicPr>
          <p:cNvPr id="4" name="Figura corredor de Reforma" descr="Figura corredor de Reforma">    </p:cNvPr>
          <p:cNvPicPr>
            <a:picLocks noChangeAspect="1"/>
          </p:cNvPicPr>
          <p:nvPr/>
        </p:nvPicPr>
        <p:blipFill>
          <a:blip r:embed="rId1"/>
          <a:stretch>
            <a:fillRect/>
          </a:stretch>
        </p:blipFill>
        <p:spPr>
          <a:xfrm>
            <a:off x="777240" y="1417320"/>
            <a:ext cx="3017520" cy="4727448"/>
          </a:xfrm>
          <a:prstGeom prst="rect">
            <a:avLst/>
          </a:prstGeom>
        </p:spPr>
      </p:pic>
      <p:sp>
        <p:nvSpPr>
          <p:cNvPr id="5" name="punto Red construida con geometría de OpenStreetMap"/>
          <p:cNvSpPr/>
          <p:nvPr/>
        </p:nvSpPr>
        <p:spPr>
          <a:xfrm>
            <a:off x="4480560" y="1545336"/>
            <a:ext cx="201168" cy="201168"/>
          </a:xfrm>
          <a:prstGeom prst="ellipse">
            <a:avLst/>
          </a:prstGeom>
          <a:solidFill>
            <a:srgbClr val="2EE6A6"/>
          </a:solidFill>
          <a:ln w="12700">
            <a:solidFill>
              <a:srgbClr val="2EE6A6"/>
            </a:solidFill>
            <a:prstDash val="solid"/>
          </a:ln>
        </p:spPr>
      </p:sp>
      <p:sp>
        <p:nvSpPr>
          <p:cNvPr id="6" name="encabezado Red construida con geometría de OpenStreetMap"/>
          <p:cNvSpPr txBox="1"/>
          <p:nvPr/>
        </p:nvSpPr>
        <p:spPr>
          <a:xfrm>
            <a:off x="4800600" y="1463040"/>
            <a:ext cx="6812280" cy="365760"/>
          </a:xfrm>
          <a:prstGeom prst="rect">
            <a:avLst/>
          </a:prstGeom>
          <a:noFill/>
          <a:ln/>
        </p:spPr>
        <p:txBody>
          <a:bodyPr wrap="square" lIns="0" tIns="0" rIns="0" bIns="0" rtlCol="0" anchor="ctr"/>
          <a:lstStyle/>
          <a:p>
            <a:pPr indent="0" marL="0">
              <a:buNone/>
            </a:pPr>
            <a:r>
              <a:rPr lang="en-US" sz="1800" b="1" dirty="0">
                <a:solidFill>
                  <a:schemeClr val="bg1"/>
                </a:solidFill>
              </a:rPr>
              <a:t>Red construida con geometría de OpenStreetMap</a:t>
            </a:r>
            <a:endParaRPr lang="en-US" sz="1800" dirty="0"/>
          </a:p>
        </p:txBody>
      </p:sp>
      <p:sp>
        <p:nvSpPr>
          <p:cNvPr id="7" name="red texto"/>
          <p:cNvSpPr txBox="1"/>
          <p:nvPr/>
        </p:nvSpPr>
        <p:spPr>
          <a:xfrm>
            <a:off x="4800600" y="1874520"/>
            <a:ext cx="6766560" cy="731520"/>
          </a:xfrm>
          <a:prstGeom prst="rect">
            <a:avLst/>
          </a:prstGeom>
          <a:noFill/>
          <a:ln/>
        </p:spPr>
        <p:txBody>
          <a:bodyPr wrap="square" lIns="0" tIns="0" rIns="0" bIns="0" rtlCol="0" anchor="t"/>
          <a:lstStyle/>
          <a:p>
            <a:pPr indent="0" marL="0">
              <a:spcAft>
                <a:spcPts val="600"/>
              </a:spcAft>
              <a:buNone/>
            </a:pPr>
            <a:r>
              <a:rPr lang="en-US" sz="1600" dirty="0">
                <a:solidFill>
                  <a:schemeClr val="bg2"/>
                </a:solidFill>
              </a:rPr>
              <a:t>Sur a norte: 15, 14, 12, 10a y 6a calle; 3 carriles por sentido; transversales de una vía.</a:t>
            </a:r>
            <a:endParaRPr lang="en-US" sz="1600" dirty="0"/>
          </a:p>
        </p:txBody>
      </p:sp>
      <p:sp>
        <p:nvSpPr>
          <p:cNvPr id="8" name="punto Cruce C12 (12 calle) para un agente"/>
          <p:cNvSpPr/>
          <p:nvPr/>
        </p:nvSpPr>
        <p:spPr>
          <a:xfrm>
            <a:off x="4480560" y="2825496"/>
            <a:ext cx="201168" cy="201168"/>
          </a:xfrm>
          <a:prstGeom prst="ellipse">
            <a:avLst/>
          </a:prstGeom>
          <a:solidFill>
            <a:srgbClr val="2F7FD8"/>
          </a:solidFill>
          <a:ln w="12700">
            <a:solidFill>
              <a:srgbClr val="2F7FD8"/>
            </a:solidFill>
            <a:prstDash val="solid"/>
          </a:ln>
        </p:spPr>
      </p:sp>
      <p:sp>
        <p:nvSpPr>
          <p:cNvPr id="9" name="encabezado Cruce C12 (12 calle) para un agente"/>
          <p:cNvSpPr txBox="1"/>
          <p:nvPr/>
        </p:nvSpPr>
        <p:spPr>
          <a:xfrm>
            <a:off x="4800600" y="2743200"/>
            <a:ext cx="6812280" cy="365760"/>
          </a:xfrm>
          <a:prstGeom prst="rect">
            <a:avLst/>
          </a:prstGeom>
          <a:noFill/>
          <a:ln/>
        </p:spPr>
        <p:txBody>
          <a:bodyPr wrap="square" lIns="0" tIns="0" rIns="0" bIns="0" rtlCol="0" anchor="ctr"/>
          <a:lstStyle/>
          <a:p>
            <a:pPr indent="0" marL="0">
              <a:buNone/>
            </a:pPr>
            <a:r>
              <a:rPr lang="en-US" sz="1800" b="1" dirty="0">
                <a:solidFill>
                  <a:schemeClr val="bg1"/>
                </a:solidFill>
              </a:rPr>
              <a:t>Cruce C12 (12 calle) para un agente</a:t>
            </a:r>
            <a:endParaRPr lang="en-US" sz="1800" dirty="0"/>
          </a:p>
        </p:txBody>
      </p:sp>
      <p:sp>
        <p:nvSpPr>
          <p:cNvPr id="10" name="c12 texto"/>
          <p:cNvSpPr txBox="1"/>
          <p:nvPr/>
        </p:nvSpPr>
        <p:spPr>
          <a:xfrm>
            <a:off x="4800600" y="3154680"/>
            <a:ext cx="6766560" cy="457200"/>
          </a:xfrm>
          <a:prstGeom prst="rect">
            <a:avLst/>
          </a:prstGeom>
          <a:noFill/>
          <a:ln/>
        </p:spPr>
        <p:txBody>
          <a:bodyPr wrap="square" lIns="0" tIns="0" rIns="0" bIns="0" rtlCol="0" anchor="t"/>
          <a:lstStyle/>
          <a:p>
            <a:pPr indent="0" marL="0">
              <a:spcAft>
                <a:spcPts val="600"/>
              </a:spcAft>
              <a:buNone/>
            </a:pPr>
            <a:r>
              <a:rPr lang="en-US" sz="1600" dirty="0">
                <a:solidFill>
                  <a:schemeClr val="bg2"/>
                </a:solidFill>
              </a:rPr>
              <a:t>El más cargado; en rojo, el tramo del incidente de E7.</a:t>
            </a:r>
            <a:endParaRPr lang="en-US" sz="1600" dirty="0"/>
          </a:p>
        </p:txBody>
      </p:sp>
      <p:sp>
        <p:nvSpPr>
          <p:cNvPr id="11" name="aviso sintetico"/>
          <p:cNvSpPr/>
          <p:nvPr/>
        </p:nvSpPr>
        <p:spPr>
          <a:xfrm>
            <a:off x="4480560" y="3977640"/>
            <a:ext cx="7159752" cy="1600200"/>
          </a:xfrm>
          <a:prstGeom prst="roundRect">
            <a:avLst>
              <a:gd name="adj" fmla="val 6857"/>
            </a:avLst>
          </a:prstGeom>
          <a:solidFill>
            <a:schemeClr val="tx2"/>
          </a:solidFill>
          <a:ln w="19050">
            <a:solidFill>
              <a:schemeClr val="accent2"/>
            </a:solidFill>
            <a:prstDash val="solid"/>
          </a:ln>
        </p:spPr>
      </p:sp>
      <p:sp>
        <p:nvSpPr>
          <p:cNvPr id="12" name="punto Datos sintéticos y provisionales"/>
          <p:cNvSpPr/>
          <p:nvPr/>
        </p:nvSpPr>
        <p:spPr>
          <a:xfrm>
            <a:off x="4709160" y="4242816"/>
            <a:ext cx="201168" cy="201168"/>
          </a:xfrm>
          <a:prstGeom prst="ellipse">
            <a:avLst/>
          </a:prstGeom>
          <a:solidFill>
            <a:srgbClr val="FF9F43"/>
          </a:solidFill>
          <a:ln w="12700">
            <a:solidFill>
              <a:srgbClr val="FF9F43"/>
            </a:solidFill>
            <a:prstDash val="solid"/>
          </a:ln>
        </p:spPr>
      </p:sp>
      <p:sp>
        <p:nvSpPr>
          <p:cNvPr id="13" name="encabezado Datos sintéticos y provisionales"/>
          <p:cNvSpPr txBox="1"/>
          <p:nvPr/>
        </p:nvSpPr>
        <p:spPr>
          <a:xfrm>
            <a:off x="5029200" y="4160520"/>
            <a:ext cx="6446520" cy="365760"/>
          </a:xfrm>
          <a:prstGeom prst="rect">
            <a:avLst/>
          </a:prstGeom>
          <a:noFill/>
          <a:ln/>
        </p:spPr>
        <p:txBody>
          <a:bodyPr wrap="square" lIns="0" tIns="0" rIns="0" bIns="0" rtlCol="0" anchor="ctr"/>
          <a:lstStyle/>
          <a:p>
            <a:pPr indent="0" marL="0">
              <a:buNone/>
            </a:pPr>
            <a:r>
              <a:rPr lang="en-US" sz="1800" b="1" dirty="0">
                <a:solidFill>
                  <a:schemeClr val="bg1"/>
                </a:solidFill>
              </a:rPr>
              <a:t>Datos sintéticos y provisionales</a:t>
            </a:r>
            <a:endParaRPr lang="en-US" sz="1800" dirty="0"/>
          </a:p>
        </p:txBody>
      </p:sp>
      <p:sp>
        <p:nvSpPr>
          <p:cNvPr id="14" name="aviso texto"/>
          <p:cNvSpPr txBox="1"/>
          <p:nvPr/>
        </p:nvSpPr>
        <p:spPr>
          <a:xfrm>
            <a:off x="5029200" y="4617720"/>
            <a:ext cx="6400800" cy="1051560"/>
          </a:xfrm>
          <a:prstGeom prst="rect">
            <a:avLst/>
          </a:prstGeom>
          <a:noFill/>
          <a:ln/>
        </p:spPr>
        <p:txBody>
          <a:bodyPr wrap="square" lIns="0" tIns="0" rIns="0" bIns="0" rtlCol="0" anchor="t"/>
          <a:lstStyle/>
          <a:p>
            <a:pPr indent="0" marL="0">
              <a:spcAft>
                <a:spcPts val="600"/>
              </a:spcAft>
              <a:buNone/>
            </a:pPr>
            <a:r>
              <a:rPr lang="en-US" sz="1600" dirty="0">
                <a:solidFill>
                  <a:schemeClr val="bg1"/>
                </a:solidFill>
              </a:rPr>
              <a:t>Conteos (7352 veh/h en el corredor en hora pico) y ciclo fijo de 110 s generados por script, no medidos en campo.</a:t>
            </a:r>
            <a:endParaRPr lang="en-US" sz="16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000" b="1" dirty="0">
                <a:solidFill>
                  <a:schemeClr val="bg1"/>
                </a:solidFill>
                <a:latin typeface="Arial" pitchFamily="34" charset="0"/>
                <a:ea typeface="Arial" pitchFamily="34" charset="-122"/>
                <a:cs typeface="Arial" pitchFamily="34" charset="-120"/>
              </a:rPr>
              <a:t>Formulación: MDP por cruce, Dec-POMDP en el corredor</a:t>
            </a:r>
            <a:endParaRPr lang="en-US" sz="3000" dirty="0"/>
          </a:p>
        </p:txBody>
      </p:sp>
      <p:sp>
        <p:nvSpPr>
          <p:cNvPr id="3" name="tarjeta Estado"/>
          <p:cNvSpPr/>
          <p:nvPr/>
        </p:nvSpPr>
        <p:spPr>
          <a:xfrm>
            <a:off x="548640" y="1417320"/>
            <a:ext cx="5440680" cy="2103120"/>
          </a:xfrm>
          <a:prstGeom prst="roundRect">
            <a:avLst>
              <a:gd name="adj" fmla="val 5217"/>
            </a:avLst>
          </a:prstGeom>
          <a:solidFill>
            <a:schemeClr val="tx2"/>
          </a:solidFill>
          <a:ln w="9525">
            <a:solidFill>
              <a:schemeClr val="accent6"/>
            </a:solidFill>
            <a:prstDash val="solid"/>
          </a:ln>
        </p:spPr>
      </p:sp>
      <p:sp>
        <p:nvSpPr>
          <p:cNvPr id="4" name="punto Estado"/>
          <p:cNvSpPr/>
          <p:nvPr/>
        </p:nvSpPr>
        <p:spPr>
          <a:xfrm>
            <a:off x="822960" y="1773936"/>
            <a:ext cx="201168" cy="201168"/>
          </a:xfrm>
          <a:prstGeom prst="ellipse">
            <a:avLst/>
          </a:prstGeom>
          <a:solidFill>
            <a:srgbClr val="2EE6A6"/>
          </a:solidFill>
          <a:ln w="12700">
            <a:solidFill>
              <a:srgbClr val="2EE6A6"/>
            </a:solidFill>
            <a:prstDash val="solid"/>
          </a:ln>
        </p:spPr>
      </p:sp>
      <p:sp>
        <p:nvSpPr>
          <p:cNvPr id="5" name="encabezado Estado"/>
          <p:cNvSpPr txBox="1"/>
          <p:nvPr/>
        </p:nvSpPr>
        <p:spPr>
          <a:xfrm>
            <a:off x="1143000" y="1691640"/>
            <a:ext cx="4617720" cy="365760"/>
          </a:xfrm>
          <a:prstGeom prst="rect">
            <a:avLst/>
          </a:prstGeom>
          <a:noFill/>
          <a:ln/>
        </p:spPr>
        <p:txBody>
          <a:bodyPr wrap="square" lIns="0" tIns="0" rIns="0" bIns="0" rtlCol="0" anchor="ctr"/>
          <a:lstStyle/>
          <a:p>
            <a:pPr indent="0" marL="0">
              <a:buNone/>
            </a:pPr>
            <a:r>
              <a:rPr lang="en-US" sz="2000" b="1" dirty="0">
                <a:solidFill>
                  <a:schemeClr val="bg1"/>
                </a:solidFill>
              </a:rPr>
              <a:t>Estado</a:t>
            </a:r>
            <a:endParaRPr lang="en-US" sz="2000" dirty="0"/>
          </a:p>
        </p:txBody>
      </p:sp>
      <p:sp>
        <p:nvSpPr>
          <p:cNvPr id="6" name="texto Estado"/>
          <p:cNvSpPr txBox="1"/>
          <p:nvPr/>
        </p:nvSpPr>
        <p:spPr>
          <a:xfrm>
            <a:off x="1143000" y="2194560"/>
            <a:ext cx="4617720" cy="1188720"/>
          </a:xfrm>
          <a:prstGeom prst="rect">
            <a:avLst/>
          </a:prstGeom>
          <a:noFill/>
          <a:ln/>
        </p:spPr>
        <p:txBody>
          <a:bodyPr wrap="square" lIns="0" tIns="0" rIns="0" bIns="0" rtlCol="0" anchor="t"/>
          <a:lstStyle/>
          <a:p>
            <a:pPr indent="0" marL="0">
              <a:spcAft>
                <a:spcPts val="600"/>
              </a:spcAft>
              <a:buNone/>
            </a:pPr>
            <a:r>
              <a:rPr lang="en-US" sz="1700" dirty="0">
                <a:solidFill>
                  <a:schemeClr val="bg2"/>
                </a:solidFill>
              </a:rPr>
              <a:t>Fase actual, verde mínimo cumplido, densidad y cola por carril (24 valores en C12).</a:t>
            </a:r>
            <a:endParaRPr lang="en-US" sz="1700" dirty="0"/>
          </a:p>
        </p:txBody>
      </p:sp>
      <p:sp>
        <p:nvSpPr>
          <p:cNvPr id="7" name="tarjeta Acción"/>
          <p:cNvSpPr/>
          <p:nvPr/>
        </p:nvSpPr>
        <p:spPr>
          <a:xfrm>
            <a:off x="6172200" y="1417320"/>
            <a:ext cx="5440680" cy="2103120"/>
          </a:xfrm>
          <a:prstGeom prst="roundRect">
            <a:avLst>
              <a:gd name="adj" fmla="val 5217"/>
            </a:avLst>
          </a:prstGeom>
          <a:solidFill>
            <a:schemeClr val="tx2"/>
          </a:solidFill>
          <a:ln w="9525">
            <a:solidFill>
              <a:schemeClr val="accent6"/>
            </a:solidFill>
            <a:prstDash val="solid"/>
          </a:ln>
        </p:spPr>
      </p:sp>
      <p:sp>
        <p:nvSpPr>
          <p:cNvPr id="8" name="punto Acción"/>
          <p:cNvSpPr/>
          <p:nvPr/>
        </p:nvSpPr>
        <p:spPr>
          <a:xfrm>
            <a:off x="6446520" y="1773936"/>
            <a:ext cx="201168" cy="201168"/>
          </a:xfrm>
          <a:prstGeom prst="ellipse">
            <a:avLst/>
          </a:prstGeom>
          <a:solidFill>
            <a:srgbClr val="FF9F43"/>
          </a:solidFill>
          <a:ln w="12700">
            <a:solidFill>
              <a:srgbClr val="FF9F43"/>
            </a:solidFill>
            <a:prstDash val="solid"/>
          </a:ln>
        </p:spPr>
      </p:sp>
      <p:sp>
        <p:nvSpPr>
          <p:cNvPr id="9" name="encabezado Acción"/>
          <p:cNvSpPr txBox="1"/>
          <p:nvPr/>
        </p:nvSpPr>
        <p:spPr>
          <a:xfrm>
            <a:off x="6766560" y="1691640"/>
            <a:ext cx="4617720" cy="365760"/>
          </a:xfrm>
          <a:prstGeom prst="rect">
            <a:avLst/>
          </a:prstGeom>
          <a:noFill/>
          <a:ln/>
        </p:spPr>
        <p:txBody>
          <a:bodyPr wrap="square" lIns="0" tIns="0" rIns="0" bIns="0" rtlCol="0" anchor="ctr"/>
          <a:lstStyle/>
          <a:p>
            <a:pPr indent="0" marL="0">
              <a:buNone/>
            </a:pPr>
            <a:r>
              <a:rPr lang="en-US" sz="2000" b="1" dirty="0">
                <a:solidFill>
                  <a:schemeClr val="bg1"/>
                </a:solidFill>
              </a:rPr>
              <a:t>Acción</a:t>
            </a:r>
            <a:endParaRPr lang="en-US" sz="2000" dirty="0"/>
          </a:p>
        </p:txBody>
      </p:sp>
      <p:sp>
        <p:nvSpPr>
          <p:cNvPr id="10" name="texto Acción"/>
          <p:cNvSpPr txBox="1"/>
          <p:nvPr/>
        </p:nvSpPr>
        <p:spPr>
          <a:xfrm>
            <a:off x="6766560" y="2194560"/>
            <a:ext cx="4617720" cy="1188720"/>
          </a:xfrm>
          <a:prstGeom prst="rect">
            <a:avLst/>
          </a:prstGeom>
          <a:noFill/>
          <a:ln/>
        </p:spPr>
        <p:txBody>
          <a:bodyPr wrap="square" lIns="0" tIns="0" rIns="0" bIns="0" rtlCol="0" anchor="t"/>
          <a:lstStyle/>
          <a:p>
            <a:pPr indent="0" marL="0">
              <a:spcAft>
                <a:spcPts val="600"/>
              </a:spcAft>
              <a:buNone/>
            </a:pPr>
            <a:r>
              <a:rPr lang="en-US" sz="1700" dirty="0">
                <a:solidFill>
                  <a:schemeClr val="bg2"/>
                </a:solidFill>
              </a:rPr>
              <a:t>Siguiente fase verde cada 5 s; el entorno impone amarillo de 3 s y verde mínimo de 10 s.</a:t>
            </a:r>
            <a:endParaRPr lang="en-US" sz="1700" dirty="0"/>
          </a:p>
        </p:txBody>
      </p:sp>
      <p:sp>
        <p:nvSpPr>
          <p:cNvPr id="11" name="tarjeta Recompensa"/>
          <p:cNvSpPr/>
          <p:nvPr/>
        </p:nvSpPr>
        <p:spPr>
          <a:xfrm>
            <a:off x="548640" y="3749040"/>
            <a:ext cx="5440680" cy="2103120"/>
          </a:xfrm>
          <a:prstGeom prst="roundRect">
            <a:avLst>
              <a:gd name="adj" fmla="val 5217"/>
            </a:avLst>
          </a:prstGeom>
          <a:solidFill>
            <a:schemeClr val="tx2"/>
          </a:solidFill>
          <a:ln w="9525">
            <a:solidFill>
              <a:schemeClr val="accent6"/>
            </a:solidFill>
            <a:prstDash val="solid"/>
          </a:ln>
        </p:spPr>
      </p:sp>
      <p:sp>
        <p:nvSpPr>
          <p:cNvPr id="12" name="punto Recompensa"/>
          <p:cNvSpPr/>
          <p:nvPr/>
        </p:nvSpPr>
        <p:spPr>
          <a:xfrm>
            <a:off x="822960" y="4105656"/>
            <a:ext cx="201168" cy="201168"/>
          </a:xfrm>
          <a:prstGeom prst="ellipse">
            <a:avLst/>
          </a:prstGeom>
          <a:solidFill>
            <a:srgbClr val="2EE6A6"/>
          </a:solidFill>
          <a:ln w="12700">
            <a:solidFill>
              <a:srgbClr val="2EE6A6"/>
            </a:solidFill>
            <a:prstDash val="solid"/>
          </a:ln>
        </p:spPr>
      </p:sp>
      <p:sp>
        <p:nvSpPr>
          <p:cNvPr id="13" name="encabezado Recompensa"/>
          <p:cNvSpPr txBox="1"/>
          <p:nvPr/>
        </p:nvSpPr>
        <p:spPr>
          <a:xfrm>
            <a:off x="1143000" y="4023360"/>
            <a:ext cx="4617720" cy="365760"/>
          </a:xfrm>
          <a:prstGeom prst="rect">
            <a:avLst/>
          </a:prstGeom>
          <a:noFill/>
          <a:ln/>
        </p:spPr>
        <p:txBody>
          <a:bodyPr wrap="square" lIns="0" tIns="0" rIns="0" bIns="0" rtlCol="0" anchor="ctr"/>
          <a:lstStyle/>
          <a:p>
            <a:pPr indent="0" marL="0">
              <a:buNone/>
            </a:pPr>
            <a:r>
              <a:rPr lang="en-US" sz="2000" b="1" dirty="0">
                <a:solidFill>
                  <a:schemeClr val="bg1"/>
                </a:solidFill>
              </a:rPr>
              <a:t>Recompensa</a:t>
            </a:r>
            <a:endParaRPr lang="en-US" sz="2000" dirty="0"/>
          </a:p>
        </p:txBody>
      </p:sp>
      <p:sp>
        <p:nvSpPr>
          <p:cNvPr id="14" name="texto Recompensa"/>
          <p:cNvSpPr txBox="1"/>
          <p:nvPr/>
        </p:nvSpPr>
        <p:spPr>
          <a:xfrm>
            <a:off x="1143000" y="4526280"/>
            <a:ext cx="4617720" cy="1188720"/>
          </a:xfrm>
          <a:prstGeom prst="rect">
            <a:avLst/>
          </a:prstGeom>
          <a:noFill/>
          <a:ln/>
        </p:spPr>
        <p:txBody>
          <a:bodyPr wrap="square" lIns="0" tIns="0" rIns="0" bIns="0" rtlCol="0" anchor="t"/>
          <a:lstStyle/>
          <a:p>
            <a:pPr indent="0" marL="0">
              <a:spcAft>
                <a:spcPts val="600"/>
              </a:spcAft>
              <a:buNone/>
            </a:pPr>
            <a:r>
              <a:rPr lang="en-US" sz="1700" dirty="0">
                <a:solidFill>
                  <a:schemeClr val="bg2"/>
                </a:solidFill>
              </a:rPr>
              <a:t>Reducción de la espera acumulada, incluida la de vehículos que esperan para entrar. γ = 0.99.</a:t>
            </a:r>
            <a:endParaRPr lang="en-US" sz="1700" dirty="0"/>
          </a:p>
        </p:txBody>
      </p:sp>
      <p:sp>
        <p:nvSpPr>
          <p:cNvPr id="15" name="tarjeta Dec-POMDP"/>
          <p:cNvSpPr/>
          <p:nvPr/>
        </p:nvSpPr>
        <p:spPr>
          <a:xfrm>
            <a:off x="6172200" y="3749040"/>
            <a:ext cx="5440680" cy="2103120"/>
          </a:xfrm>
          <a:prstGeom prst="roundRect">
            <a:avLst>
              <a:gd name="adj" fmla="val 5217"/>
            </a:avLst>
          </a:prstGeom>
          <a:solidFill>
            <a:schemeClr val="tx2"/>
          </a:solidFill>
          <a:ln w="9525">
            <a:solidFill>
              <a:schemeClr val="accent6"/>
            </a:solidFill>
            <a:prstDash val="solid"/>
          </a:ln>
        </p:spPr>
      </p:sp>
      <p:sp>
        <p:nvSpPr>
          <p:cNvPr id="16" name="punto Dec-POMDP"/>
          <p:cNvSpPr/>
          <p:nvPr/>
        </p:nvSpPr>
        <p:spPr>
          <a:xfrm>
            <a:off x="6446520" y="4105656"/>
            <a:ext cx="201168" cy="201168"/>
          </a:xfrm>
          <a:prstGeom prst="ellipse">
            <a:avLst/>
          </a:prstGeom>
          <a:solidFill>
            <a:srgbClr val="C9CED6"/>
          </a:solidFill>
          <a:ln w="12700">
            <a:solidFill>
              <a:srgbClr val="C9CED6"/>
            </a:solidFill>
            <a:prstDash val="solid"/>
          </a:ln>
        </p:spPr>
      </p:sp>
      <p:sp>
        <p:nvSpPr>
          <p:cNvPr id="17" name="encabezado Dec-POMDP"/>
          <p:cNvSpPr txBox="1"/>
          <p:nvPr/>
        </p:nvSpPr>
        <p:spPr>
          <a:xfrm>
            <a:off x="6766560" y="4023360"/>
            <a:ext cx="4617720" cy="365760"/>
          </a:xfrm>
          <a:prstGeom prst="rect">
            <a:avLst/>
          </a:prstGeom>
          <a:noFill/>
          <a:ln/>
        </p:spPr>
        <p:txBody>
          <a:bodyPr wrap="square" lIns="0" tIns="0" rIns="0" bIns="0" rtlCol="0" anchor="ctr"/>
          <a:lstStyle/>
          <a:p>
            <a:pPr indent="0" marL="0">
              <a:buNone/>
            </a:pPr>
            <a:r>
              <a:rPr lang="en-US" sz="2000" b="1" dirty="0">
                <a:solidFill>
                  <a:schemeClr val="bg1"/>
                </a:solidFill>
              </a:rPr>
              <a:t>Dec-POMDP</a:t>
            </a:r>
            <a:endParaRPr lang="en-US" sz="2000" dirty="0"/>
          </a:p>
        </p:txBody>
      </p:sp>
      <p:sp>
        <p:nvSpPr>
          <p:cNvPr id="18" name="texto Dec-POMDP"/>
          <p:cNvSpPr txBox="1"/>
          <p:nvPr/>
        </p:nvSpPr>
        <p:spPr>
          <a:xfrm>
            <a:off x="6766560" y="4526280"/>
            <a:ext cx="4617720" cy="1188720"/>
          </a:xfrm>
          <a:prstGeom prst="rect">
            <a:avLst/>
          </a:prstGeom>
          <a:noFill/>
          <a:ln/>
        </p:spPr>
        <p:txBody>
          <a:bodyPr wrap="square" lIns="0" tIns="0" rIns="0" bIns="0" rtlCol="0" anchor="t"/>
          <a:lstStyle/>
          <a:p>
            <a:pPr indent="0" marL="0">
              <a:spcAft>
                <a:spcPts val="600"/>
              </a:spcAft>
              <a:buNone/>
            </a:pPr>
            <a:r>
              <a:rPr lang="en-US" sz="1700" dirty="0">
                <a:solidFill>
                  <a:schemeClr val="bg2"/>
                </a:solidFill>
              </a:rPr>
              <a:t>5 agentes con observación local y recompensa de equipo; estado global solo al entrenar (CTDE).</a:t>
            </a:r>
            <a:endParaRPr lang="en-US" sz="1700" dirty="0"/>
          </a:p>
        </p:txBody>
      </p:sp>
      <p:sp>
        <p:nvSpPr>
          <p:cNvPr id="19" name="nota al pie"/>
          <p:cNvSpPr txBox="1"/>
          <p:nvPr/>
        </p:nvSpPr>
        <p:spPr>
          <a:xfrm>
            <a:off x="548640" y="6108192"/>
            <a:ext cx="11094415" cy="320040"/>
          </a:xfrm>
          <a:prstGeom prst="rect">
            <a:avLst/>
          </a:prstGeom>
          <a:noFill/>
          <a:ln/>
        </p:spPr>
        <p:txBody>
          <a:bodyPr wrap="square" lIns="0" tIns="0" rIns="0" bIns="0" rtlCol="0" anchor="ctr"/>
          <a:lstStyle/>
          <a:p>
            <a:pPr indent="0" marL="0">
              <a:buNone/>
            </a:pPr>
            <a:r>
              <a:rPr lang="en-US" sz="1100" i="1" dirty="0">
                <a:solidFill>
                  <a:schemeClr val="bg2"/>
                </a:solidFill>
              </a:rPr>
              <a:t>Episodio: 3600 s simulados = 720 decisiones por agente.</a:t>
            </a:r>
            <a:endParaRPr lang="en-US" sz="11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000" b="1" dirty="0">
                <a:solidFill>
                  <a:schemeClr val="bg1"/>
                </a:solidFill>
                <a:latin typeface="Arial" pitchFamily="34" charset="0"/>
                <a:ea typeface="Arial" pitchFamily="34" charset="-122"/>
                <a:cs typeface="Arial" pitchFamily="34" charset="-120"/>
              </a:rPr>
              <a:t>Métodos: de reglas clásicas a RL multiagente</a:t>
            </a:r>
            <a:endParaRPr lang="en-US" sz="3000" dirty="0"/>
          </a:p>
        </p:txBody>
      </p:sp>
      <p:sp>
        <p:nvSpPr>
          <p:cNvPr id="3" name="columna Líneas base"/>
          <p:cNvSpPr/>
          <p:nvPr/>
        </p:nvSpPr>
        <p:spPr>
          <a:xfrm>
            <a:off x="548640" y="1417320"/>
            <a:ext cx="3520440" cy="4206240"/>
          </a:xfrm>
          <a:prstGeom prst="roundRect">
            <a:avLst>
              <a:gd name="adj" fmla="val 3117"/>
            </a:avLst>
          </a:prstGeom>
          <a:solidFill>
            <a:schemeClr val="tx2"/>
          </a:solidFill>
          <a:ln w="9525">
            <a:solidFill>
              <a:schemeClr val="accent6"/>
            </a:solidFill>
            <a:prstDash val="solid"/>
          </a:ln>
        </p:spPr>
      </p:sp>
      <p:sp>
        <p:nvSpPr>
          <p:cNvPr id="4" name="punto Líneas base"/>
          <p:cNvSpPr/>
          <p:nvPr/>
        </p:nvSpPr>
        <p:spPr>
          <a:xfrm>
            <a:off x="822960" y="1773936"/>
            <a:ext cx="201168" cy="201168"/>
          </a:xfrm>
          <a:prstGeom prst="ellipse">
            <a:avLst/>
          </a:prstGeom>
          <a:solidFill>
            <a:srgbClr val="7D8796"/>
          </a:solidFill>
          <a:ln w="12700">
            <a:solidFill>
              <a:srgbClr val="7D8796"/>
            </a:solidFill>
            <a:prstDash val="solid"/>
          </a:ln>
        </p:spPr>
      </p:sp>
      <p:sp>
        <p:nvSpPr>
          <p:cNvPr id="5" name="encabezado Líneas base"/>
          <p:cNvSpPr txBox="1"/>
          <p:nvPr/>
        </p:nvSpPr>
        <p:spPr>
          <a:xfrm>
            <a:off x="1143000" y="1691640"/>
            <a:ext cx="2788920" cy="365760"/>
          </a:xfrm>
          <a:prstGeom prst="rect">
            <a:avLst/>
          </a:prstGeom>
          <a:noFill/>
          <a:ln/>
        </p:spPr>
        <p:txBody>
          <a:bodyPr wrap="square" lIns="0" tIns="0" rIns="0" bIns="0" rtlCol="0" anchor="ctr"/>
          <a:lstStyle/>
          <a:p>
            <a:pPr indent="0" marL="0">
              <a:buNone/>
            </a:pPr>
            <a:r>
              <a:rPr lang="en-US" sz="2200" b="1" dirty="0">
                <a:solidFill>
                  <a:schemeClr val="bg1"/>
                </a:solidFill>
              </a:rPr>
              <a:t>Líneas base</a:t>
            </a:r>
            <a:endParaRPr lang="en-US" sz="2200" dirty="0"/>
          </a:p>
        </p:txBody>
      </p:sp>
      <p:sp>
        <p:nvSpPr>
          <p:cNvPr id="6" name="sub Líneas base"/>
          <p:cNvSpPr txBox="1"/>
          <p:nvPr/>
        </p:nvSpPr>
        <p:spPr>
          <a:xfrm>
            <a:off x="1143000" y="2103120"/>
            <a:ext cx="2743200" cy="365760"/>
          </a:xfrm>
          <a:prstGeom prst="rect">
            <a:avLst/>
          </a:prstGeom>
          <a:noFill/>
          <a:ln/>
        </p:spPr>
        <p:txBody>
          <a:bodyPr wrap="square" lIns="0" tIns="0" rIns="0" bIns="0" rtlCol="0" anchor="t"/>
          <a:lstStyle/>
          <a:p>
            <a:pPr indent="0" marL="0">
              <a:spcAft>
                <a:spcPts val="600"/>
              </a:spcAft>
              <a:buNone/>
            </a:pPr>
            <a:r>
              <a:rPr lang="en-US" sz="1500" dirty="0">
                <a:solidFill>
                  <a:schemeClr val="bg2"/>
                </a:solidFill>
              </a:rPr>
              <a:t>sin aprendizaje</a:t>
            </a:r>
            <a:endParaRPr lang="en-US" sz="1500" dirty="0"/>
          </a:p>
        </p:txBody>
      </p:sp>
      <p:sp>
        <p:nvSpPr>
          <p:cNvPr id="7" name="item Tiempo fijo (Webster, 110 s)"/>
          <p:cNvSpPr/>
          <p:nvPr/>
        </p:nvSpPr>
        <p:spPr>
          <a:xfrm>
            <a:off x="822960" y="2651760"/>
            <a:ext cx="2971800" cy="566928"/>
          </a:xfrm>
          <a:prstGeom prst="roundRect">
            <a:avLst>
              <a:gd name="adj" fmla="val 12903"/>
            </a:avLst>
          </a:prstGeom>
          <a:solidFill>
            <a:schemeClr val="tx1"/>
          </a:solidFill>
          <a:ln w="9525">
            <a:solidFill>
              <a:schemeClr val="accent6"/>
            </a:solidFill>
            <a:prstDash val="solid"/>
          </a:ln>
        </p:spPr>
      </p:sp>
      <p:sp>
        <p:nvSpPr>
          <p:cNvPr id="8" name="item texto Tiempo fijo (Webster, 110 s)"/>
          <p:cNvSpPr txBox="1"/>
          <p:nvPr/>
        </p:nvSpPr>
        <p:spPr>
          <a:xfrm>
            <a:off x="960120" y="2651760"/>
            <a:ext cx="2743200" cy="566928"/>
          </a:xfrm>
          <a:prstGeom prst="rect">
            <a:avLst/>
          </a:prstGeom>
          <a:noFill/>
          <a:ln/>
        </p:spPr>
        <p:txBody>
          <a:bodyPr wrap="square" lIns="0" tIns="0" rIns="0" bIns="0" rtlCol="0" anchor="ctr"/>
          <a:lstStyle/>
          <a:p>
            <a:pPr indent="0" marL="0">
              <a:spcAft>
                <a:spcPts val="600"/>
              </a:spcAft>
              <a:buNone/>
            </a:pPr>
            <a:r>
              <a:rPr lang="en-US" sz="1500" dirty="0">
                <a:solidFill>
                  <a:schemeClr val="bg1"/>
                </a:solidFill>
              </a:rPr>
              <a:t>Tiempo fijo (Webster, 110 s)</a:t>
            </a:r>
            <a:endParaRPr lang="en-US" sz="1500" dirty="0"/>
          </a:p>
        </p:txBody>
      </p:sp>
      <p:sp>
        <p:nvSpPr>
          <p:cNvPr id="9" name="item Actuado"/>
          <p:cNvSpPr/>
          <p:nvPr/>
        </p:nvSpPr>
        <p:spPr>
          <a:xfrm>
            <a:off x="822960" y="3364992"/>
            <a:ext cx="2971800" cy="566928"/>
          </a:xfrm>
          <a:prstGeom prst="roundRect">
            <a:avLst>
              <a:gd name="adj" fmla="val 12903"/>
            </a:avLst>
          </a:prstGeom>
          <a:solidFill>
            <a:schemeClr val="tx1"/>
          </a:solidFill>
          <a:ln w="9525">
            <a:solidFill>
              <a:schemeClr val="accent6"/>
            </a:solidFill>
            <a:prstDash val="solid"/>
          </a:ln>
        </p:spPr>
      </p:sp>
      <p:sp>
        <p:nvSpPr>
          <p:cNvPr id="10" name="item texto Actuado"/>
          <p:cNvSpPr txBox="1"/>
          <p:nvPr/>
        </p:nvSpPr>
        <p:spPr>
          <a:xfrm>
            <a:off x="960120" y="3364992"/>
            <a:ext cx="2743200" cy="566928"/>
          </a:xfrm>
          <a:prstGeom prst="rect">
            <a:avLst/>
          </a:prstGeom>
          <a:noFill/>
          <a:ln/>
        </p:spPr>
        <p:txBody>
          <a:bodyPr wrap="square" lIns="0" tIns="0" rIns="0" bIns="0" rtlCol="0" anchor="ctr"/>
          <a:lstStyle/>
          <a:p>
            <a:pPr indent="0" marL="0">
              <a:spcAft>
                <a:spcPts val="600"/>
              </a:spcAft>
              <a:buNone/>
            </a:pPr>
            <a:r>
              <a:rPr lang="en-US" sz="1500" dirty="0">
                <a:solidFill>
                  <a:schemeClr val="bg1"/>
                </a:solidFill>
              </a:rPr>
              <a:t>Actuado</a:t>
            </a:r>
            <a:endParaRPr lang="en-US" sz="1500" dirty="0"/>
          </a:p>
        </p:txBody>
      </p:sp>
      <p:sp>
        <p:nvSpPr>
          <p:cNvPr id="11" name="item Max-pressure"/>
          <p:cNvSpPr/>
          <p:nvPr/>
        </p:nvSpPr>
        <p:spPr>
          <a:xfrm>
            <a:off x="822960" y="4078224"/>
            <a:ext cx="2971800" cy="566928"/>
          </a:xfrm>
          <a:prstGeom prst="roundRect">
            <a:avLst>
              <a:gd name="adj" fmla="val 12903"/>
            </a:avLst>
          </a:prstGeom>
          <a:solidFill>
            <a:schemeClr val="tx1"/>
          </a:solidFill>
          <a:ln w="9525">
            <a:solidFill>
              <a:schemeClr val="accent6"/>
            </a:solidFill>
            <a:prstDash val="solid"/>
          </a:ln>
        </p:spPr>
      </p:sp>
      <p:sp>
        <p:nvSpPr>
          <p:cNvPr id="12" name="item texto Max-pressure"/>
          <p:cNvSpPr txBox="1"/>
          <p:nvPr/>
        </p:nvSpPr>
        <p:spPr>
          <a:xfrm>
            <a:off x="960120" y="4078224"/>
            <a:ext cx="2743200" cy="566928"/>
          </a:xfrm>
          <a:prstGeom prst="rect">
            <a:avLst/>
          </a:prstGeom>
          <a:noFill/>
          <a:ln/>
        </p:spPr>
        <p:txBody>
          <a:bodyPr wrap="square" lIns="0" tIns="0" rIns="0" bIns="0" rtlCol="0" anchor="ctr"/>
          <a:lstStyle/>
          <a:p>
            <a:pPr indent="0" marL="0">
              <a:spcAft>
                <a:spcPts val="600"/>
              </a:spcAft>
              <a:buNone/>
            </a:pPr>
            <a:r>
              <a:rPr lang="en-US" sz="1500" dirty="0">
                <a:solidFill>
                  <a:schemeClr val="bg1"/>
                </a:solidFill>
              </a:rPr>
              <a:t>Max-pressure</a:t>
            </a:r>
            <a:endParaRPr lang="en-US" sz="1500" dirty="0"/>
          </a:p>
        </p:txBody>
      </p:sp>
      <p:sp>
        <p:nvSpPr>
          <p:cNvPr id="13" name="columna Un agente"/>
          <p:cNvSpPr/>
          <p:nvPr/>
        </p:nvSpPr>
        <p:spPr>
          <a:xfrm>
            <a:off x="4297680" y="1417320"/>
            <a:ext cx="3520440" cy="4206240"/>
          </a:xfrm>
          <a:prstGeom prst="roundRect">
            <a:avLst>
              <a:gd name="adj" fmla="val 3117"/>
            </a:avLst>
          </a:prstGeom>
          <a:solidFill>
            <a:schemeClr val="tx2"/>
          </a:solidFill>
          <a:ln w="9525">
            <a:solidFill>
              <a:schemeClr val="accent6"/>
            </a:solidFill>
            <a:prstDash val="solid"/>
          </a:ln>
        </p:spPr>
      </p:sp>
      <p:sp>
        <p:nvSpPr>
          <p:cNvPr id="14" name="punto Un agente"/>
          <p:cNvSpPr/>
          <p:nvPr/>
        </p:nvSpPr>
        <p:spPr>
          <a:xfrm>
            <a:off x="4572000" y="1773936"/>
            <a:ext cx="201168" cy="201168"/>
          </a:xfrm>
          <a:prstGeom prst="ellipse">
            <a:avLst/>
          </a:prstGeom>
          <a:solidFill>
            <a:srgbClr val="2EE6A6"/>
          </a:solidFill>
          <a:ln w="12700">
            <a:solidFill>
              <a:srgbClr val="2EE6A6"/>
            </a:solidFill>
            <a:prstDash val="solid"/>
          </a:ln>
        </p:spPr>
      </p:sp>
      <p:sp>
        <p:nvSpPr>
          <p:cNvPr id="15" name="encabezado Un agente"/>
          <p:cNvSpPr txBox="1"/>
          <p:nvPr/>
        </p:nvSpPr>
        <p:spPr>
          <a:xfrm>
            <a:off x="4892040" y="1691640"/>
            <a:ext cx="2788920" cy="365760"/>
          </a:xfrm>
          <a:prstGeom prst="rect">
            <a:avLst/>
          </a:prstGeom>
          <a:noFill/>
          <a:ln/>
        </p:spPr>
        <p:txBody>
          <a:bodyPr wrap="square" lIns="0" tIns="0" rIns="0" bIns="0" rtlCol="0" anchor="ctr"/>
          <a:lstStyle/>
          <a:p>
            <a:pPr indent="0" marL="0">
              <a:buNone/>
            </a:pPr>
            <a:r>
              <a:rPr lang="en-US" sz="2200" b="1" dirty="0">
                <a:solidFill>
                  <a:schemeClr val="bg1"/>
                </a:solidFill>
              </a:rPr>
              <a:t>Un agente</a:t>
            </a:r>
            <a:endParaRPr lang="en-US" sz="2200" dirty="0"/>
          </a:p>
        </p:txBody>
      </p:sp>
      <p:sp>
        <p:nvSpPr>
          <p:cNvPr id="16" name="sub Un agente"/>
          <p:cNvSpPr txBox="1"/>
          <p:nvPr/>
        </p:nvSpPr>
        <p:spPr>
          <a:xfrm>
            <a:off x="4892040" y="2103120"/>
            <a:ext cx="2743200" cy="365760"/>
          </a:xfrm>
          <a:prstGeom prst="rect">
            <a:avLst/>
          </a:prstGeom>
          <a:noFill/>
          <a:ln/>
        </p:spPr>
        <p:txBody>
          <a:bodyPr wrap="square" lIns="0" tIns="0" rIns="0" bIns="0" rtlCol="0" anchor="t"/>
          <a:lstStyle/>
          <a:p>
            <a:pPr indent="0" marL="0">
              <a:spcAft>
                <a:spcPts val="600"/>
              </a:spcAft>
              <a:buNone/>
            </a:pPr>
            <a:r>
              <a:rPr lang="en-US" sz="1500" dirty="0">
                <a:solidFill>
                  <a:schemeClr val="bg2"/>
                </a:solidFill>
              </a:rPr>
              <a:t>cruce C12</a:t>
            </a:r>
            <a:endParaRPr lang="en-US" sz="1500" dirty="0"/>
          </a:p>
        </p:txBody>
      </p:sp>
      <p:sp>
        <p:nvSpPr>
          <p:cNvPr id="17" name="item Q-Learning"/>
          <p:cNvSpPr/>
          <p:nvPr/>
        </p:nvSpPr>
        <p:spPr>
          <a:xfrm>
            <a:off x="4572000" y="2651760"/>
            <a:ext cx="2971800" cy="566928"/>
          </a:xfrm>
          <a:prstGeom prst="roundRect">
            <a:avLst>
              <a:gd name="adj" fmla="val 12903"/>
            </a:avLst>
          </a:prstGeom>
          <a:solidFill>
            <a:schemeClr val="tx1"/>
          </a:solidFill>
          <a:ln w="9525">
            <a:solidFill>
              <a:schemeClr val="accent6"/>
            </a:solidFill>
            <a:prstDash val="solid"/>
          </a:ln>
        </p:spPr>
      </p:sp>
      <p:sp>
        <p:nvSpPr>
          <p:cNvPr id="18" name="item texto Q-Learning"/>
          <p:cNvSpPr txBox="1"/>
          <p:nvPr/>
        </p:nvSpPr>
        <p:spPr>
          <a:xfrm>
            <a:off x="4709160" y="2651760"/>
            <a:ext cx="2743200" cy="566928"/>
          </a:xfrm>
          <a:prstGeom prst="rect">
            <a:avLst/>
          </a:prstGeom>
          <a:noFill/>
          <a:ln/>
        </p:spPr>
        <p:txBody>
          <a:bodyPr wrap="square" lIns="0" tIns="0" rIns="0" bIns="0" rtlCol="0" anchor="ctr"/>
          <a:lstStyle/>
          <a:p>
            <a:pPr indent="0" marL="0">
              <a:spcAft>
                <a:spcPts val="600"/>
              </a:spcAft>
              <a:buNone/>
            </a:pPr>
            <a:r>
              <a:rPr lang="en-US" sz="1500" dirty="0">
                <a:solidFill>
                  <a:schemeClr val="bg1"/>
                </a:solidFill>
              </a:rPr>
              <a:t>Q-Learning</a:t>
            </a:r>
            <a:endParaRPr lang="en-US" sz="1500" dirty="0"/>
          </a:p>
        </p:txBody>
      </p:sp>
      <p:sp>
        <p:nvSpPr>
          <p:cNvPr id="19" name="item Dyna-Q (n = 5, 10, 50)"/>
          <p:cNvSpPr/>
          <p:nvPr/>
        </p:nvSpPr>
        <p:spPr>
          <a:xfrm>
            <a:off x="4572000" y="3364992"/>
            <a:ext cx="2971800" cy="566928"/>
          </a:xfrm>
          <a:prstGeom prst="roundRect">
            <a:avLst>
              <a:gd name="adj" fmla="val 12903"/>
            </a:avLst>
          </a:prstGeom>
          <a:solidFill>
            <a:schemeClr val="tx1"/>
          </a:solidFill>
          <a:ln w="9525">
            <a:solidFill>
              <a:schemeClr val="accent6"/>
            </a:solidFill>
            <a:prstDash val="solid"/>
          </a:ln>
        </p:spPr>
      </p:sp>
      <p:sp>
        <p:nvSpPr>
          <p:cNvPr id="20" name="item texto Dyna-Q (n = 5, 10, 50)"/>
          <p:cNvSpPr txBox="1"/>
          <p:nvPr/>
        </p:nvSpPr>
        <p:spPr>
          <a:xfrm>
            <a:off x="4709160" y="3364992"/>
            <a:ext cx="2743200" cy="566928"/>
          </a:xfrm>
          <a:prstGeom prst="rect">
            <a:avLst/>
          </a:prstGeom>
          <a:noFill/>
          <a:ln/>
        </p:spPr>
        <p:txBody>
          <a:bodyPr wrap="square" lIns="0" tIns="0" rIns="0" bIns="0" rtlCol="0" anchor="ctr"/>
          <a:lstStyle/>
          <a:p>
            <a:pPr indent="0" marL="0">
              <a:spcAft>
                <a:spcPts val="600"/>
              </a:spcAft>
              <a:buNone/>
            </a:pPr>
            <a:r>
              <a:rPr lang="en-US" sz="1500" dirty="0">
                <a:solidFill>
                  <a:schemeClr val="bg1"/>
                </a:solidFill>
              </a:rPr>
              <a:t>Dyna-Q (n = 5, 10, 50)</a:t>
            </a:r>
            <a:endParaRPr lang="en-US" sz="1500" dirty="0"/>
          </a:p>
        </p:txBody>
      </p:sp>
      <p:sp>
        <p:nvSpPr>
          <p:cNvPr id="21" name="item DQN + Double + Dueling + PER"/>
          <p:cNvSpPr/>
          <p:nvPr/>
        </p:nvSpPr>
        <p:spPr>
          <a:xfrm>
            <a:off x="4572000" y="4078224"/>
            <a:ext cx="2971800" cy="566928"/>
          </a:xfrm>
          <a:prstGeom prst="roundRect">
            <a:avLst>
              <a:gd name="adj" fmla="val 12903"/>
            </a:avLst>
          </a:prstGeom>
          <a:solidFill>
            <a:schemeClr val="tx1"/>
          </a:solidFill>
          <a:ln w="9525">
            <a:solidFill>
              <a:schemeClr val="accent6"/>
            </a:solidFill>
            <a:prstDash val="solid"/>
          </a:ln>
        </p:spPr>
      </p:sp>
      <p:sp>
        <p:nvSpPr>
          <p:cNvPr id="22" name="item texto DQN + Double + Dueling + PER"/>
          <p:cNvSpPr txBox="1"/>
          <p:nvPr/>
        </p:nvSpPr>
        <p:spPr>
          <a:xfrm>
            <a:off x="4709160" y="4078224"/>
            <a:ext cx="2743200" cy="566928"/>
          </a:xfrm>
          <a:prstGeom prst="rect">
            <a:avLst/>
          </a:prstGeom>
          <a:noFill/>
          <a:ln/>
        </p:spPr>
        <p:txBody>
          <a:bodyPr wrap="square" lIns="0" tIns="0" rIns="0" bIns="0" rtlCol="0" anchor="ctr"/>
          <a:lstStyle/>
          <a:p>
            <a:pPr indent="0" marL="0">
              <a:spcAft>
                <a:spcPts val="600"/>
              </a:spcAft>
              <a:buNone/>
            </a:pPr>
            <a:r>
              <a:rPr lang="en-US" sz="1500" dirty="0">
                <a:solidFill>
                  <a:schemeClr val="bg1"/>
                </a:solidFill>
              </a:rPr>
              <a:t>DQN + Double + Dueling + PER</a:t>
            </a:r>
            <a:endParaRPr lang="en-US" sz="1500" dirty="0"/>
          </a:p>
        </p:txBody>
      </p:sp>
      <p:sp>
        <p:nvSpPr>
          <p:cNvPr id="23" name="item PPO"/>
          <p:cNvSpPr/>
          <p:nvPr/>
        </p:nvSpPr>
        <p:spPr>
          <a:xfrm>
            <a:off x="4572000" y="4791456"/>
            <a:ext cx="2971800" cy="566928"/>
          </a:xfrm>
          <a:prstGeom prst="roundRect">
            <a:avLst>
              <a:gd name="adj" fmla="val 12903"/>
            </a:avLst>
          </a:prstGeom>
          <a:solidFill>
            <a:schemeClr val="tx1"/>
          </a:solidFill>
          <a:ln w="9525">
            <a:solidFill>
              <a:schemeClr val="accent6"/>
            </a:solidFill>
            <a:prstDash val="solid"/>
          </a:ln>
        </p:spPr>
      </p:sp>
      <p:sp>
        <p:nvSpPr>
          <p:cNvPr id="24" name="item texto PPO"/>
          <p:cNvSpPr txBox="1"/>
          <p:nvPr/>
        </p:nvSpPr>
        <p:spPr>
          <a:xfrm>
            <a:off x="4709160" y="4791456"/>
            <a:ext cx="2743200" cy="566928"/>
          </a:xfrm>
          <a:prstGeom prst="rect">
            <a:avLst/>
          </a:prstGeom>
          <a:noFill/>
          <a:ln/>
        </p:spPr>
        <p:txBody>
          <a:bodyPr wrap="square" lIns="0" tIns="0" rIns="0" bIns="0" rtlCol="0" anchor="ctr"/>
          <a:lstStyle/>
          <a:p>
            <a:pPr indent="0" marL="0">
              <a:spcAft>
                <a:spcPts val="600"/>
              </a:spcAft>
              <a:buNone/>
            </a:pPr>
            <a:r>
              <a:rPr lang="en-US" sz="1500" dirty="0">
                <a:solidFill>
                  <a:schemeClr val="bg1"/>
                </a:solidFill>
              </a:rPr>
              <a:t>PPO</a:t>
            </a:r>
            <a:endParaRPr lang="en-US" sz="1500" dirty="0"/>
          </a:p>
        </p:txBody>
      </p:sp>
      <p:sp>
        <p:nvSpPr>
          <p:cNvPr id="25" name="columna Multiagente"/>
          <p:cNvSpPr/>
          <p:nvPr/>
        </p:nvSpPr>
        <p:spPr>
          <a:xfrm>
            <a:off x="8046720" y="1417320"/>
            <a:ext cx="3520440" cy="4206240"/>
          </a:xfrm>
          <a:prstGeom prst="roundRect">
            <a:avLst>
              <a:gd name="adj" fmla="val 3117"/>
            </a:avLst>
          </a:prstGeom>
          <a:solidFill>
            <a:schemeClr val="tx2"/>
          </a:solidFill>
          <a:ln w="9525">
            <a:solidFill>
              <a:schemeClr val="accent6"/>
            </a:solidFill>
            <a:prstDash val="solid"/>
          </a:ln>
        </p:spPr>
      </p:sp>
      <p:sp>
        <p:nvSpPr>
          <p:cNvPr id="26" name="punto Multiagente"/>
          <p:cNvSpPr/>
          <p:nvPr/>
        </p:nvSpPr>
        <p:spPr>
          <a:xfrm>
            <a:off x="8321040" y="1773936"/>
            <a:ext cx="201168" cy="201168"/>
          </a:xfrm>
          <a:prstGeom prst="ellipse">
            <a:avLst/>
          </a:prstGeom>
          <a:solidFill>
            <a:srgbClr val="2EE6A6"/>
          </a:solidFill>
          <a:ln w="12700">
            <a:solidFill>
              <a:srgbClr val="2EE6A6"/>
            </a:solidFill>
            <a:prstDash val="solid"/>
          </a:ln>
        </p:spPr>
      </p:sp>
      <p:sp>
        <p:nvSpPr>
          <p:cNvPr id="27" name="encabezado Multiagente"/>
          <p:cNvSpPr txBox="1"/>
          <p:nvPr/>
        </p:nvSpPr>
        <p:spPr>
          <a:xfrm>
            <a:off x="8641080" y="1691640"/>
            <a:ext cx="2788920" cy="365760"/>
          </a:xfrm>
          <a:prstGeom prst="rect">
            <a:avLst/>
          </a:prstGeom>
          <a:noFill/>
          <a:ln/>
        </p:spPr>
        <p:txBody>
          <a:bodyPr wrap="square" lIns="0" tIns="0" rIns="0" bIns="0" rtlCol="0" anchor="ctr"/>
          <a:lstStyle/>
          <a:p>
            <a:pPr indent="0" marL="0">
              <a:buNone/>
            </a:pPr>
            <a:r>
              <a:rPr lang="en-US" sz="2200" b="1" dirty="0">
                <a:solidFill>
                  <a:schemeClr val="bg1"/>
                </a:solidFill>
              </a:rPr>
              <a:t>Multiagente</a:t>
            </a:r>
            <a:endParaRPr lang="en-US" sz="2200" dirty="0"/>
          </a:p>
        </p:txBody>
      </p:sp>
      <p:sp>
        <p:nvSpPr>
          <p:cNvPr id="28" name="sub Multiagente"/>
          <p:cNvSpPr txBox="1"/>
          <p:nvPr/>
        </p:nvSpPr>
        <p:spPr>
          <a:xfrm>
            <a:off x="8641080" y="2103120"/>
            <a:ext cx="2743200" cy="365760"/>
          </a:xfrm>
          <a:prstGeom prst="rect">
            <a:avLst/>
          </a:prstGeom>
          <a:noFill/>
          <a:ln/>
        </p:spPr>
        <p:txBody>
          <a:bodyPr wrap="square" lIns="0" tIns="0" rIns="0" bIns="0" rtlCol="0" anchor="t"/>
          <a:lstStyle/>
          <a:p>
            <a:pPr indent="0" marL="0">
              <a:spcAft>
                <a:spcPts val="600"/>
              </a:spcAft>
              <a:buNone/>
            </a:pPr>
            <a:r>
              <a:rPr lang="en-US" sz="1500" dirty="0">
                <a:solidFill>
                  <a:schemeClr val="bg2"/>
                </a:solidFill>
              </a:rPr>
              <a:t>corredor de 5 cruces</a:t>
            </a:r>
            <a:endParaRPr lang="en-US" sz="1500" dirty="0"/>
          </a:p>
        </p:txBody>
      </p:sp>
      <p:sp>
        <p:nvSpPr>
          <p:cNvPr id="29" name="item IDQN (+ colas de vecinos)"/>
          <p:cNvSpPr/>
          <p:nvPr/>
        </p:nvSpPr>
        <p:spPr>
          <a:xfrm>
            <a:off x="8321040" y="2651760"/>
            <a:ext cx="2971800" cy="566928"/>
          </a:xfrm>
          <a:prstGeom prst="roundRect">
            <a:avLst>
              <a:gd name="adj" fmla="val 12903"/>
            </a:avLst>
          </a:prstGeom>
          <a:solidFill>
            <a:schemeClr val="tx1"/>
          </a:solidFill>
          <a:ln w="9525">
            <a:solidFill>
              <a:schemeClr val="accent6"/>
            </a:solidFill>
            <a:prstDash val="solid"/>
          </a:ln>
        </p:spPr>
      </p:sp>
      <p:sp>
        <p:nvSpPr>
          <p:cNvPr id="30" name="item texto IDQN (+ colas de vecinos)"/>
          <p:cNvSpPr txBox="1"/>
          <p:nvPr/>
        </p:nvSpPr>
        <p:spPr>
          <a:xfrm>
            <a:off x="8458200" y="2651760"/>
            <a:ext cx="2743200" cy="566928"/>
          </a:xfrm>
          <a:prstGeom prst="rect">
            <a:avLst/>
          </a:prstGeom>
          <a:noFill/>
          <a:ln/>
        </p:spPr>
        <p:txBody>
          <a:bodyPr wrap="square" lIns="0" tIns="0" rIns="0" bIns="0" rtlCol="0" anchor="ctr"/>
          <a:lstStyle/>
          <a:p>
            <a:pPr indent="0" marL="0">
              <a:spcAft>
                <a:spcPts val="600"/>
              </a:spcAft>
              <a:buNone/>
            </a:pPr>
            <a:r>
              <a:rPr lang="en-US" sz="1500" dirty="0">
                <a:solidFill>
                  <a:schemeClr val="bg1"/>
                </a:solidFill>
              </a:rPr>
              <a:t>IDQN (+ colas de vecinos)</a:t>
            </a:r>
            <a:endParaRPr lang="en-US" sz="1500" dirty="0"/>
          </a:p>
        </p:txBody>
      </p:sp>
      <p:sp>
        <p:nvSpPr>
          <p:cNvPr id="31" name="item QMIX"/>
          <p:cNvSpPr/>
          <p:nvPr/>
        </p:nvSpPr>
        <p:spPr>
          <a:xfrm>
            <a:off x="8321040" y="3364992"/>
            <a:ext cx="2971800" cy="566928"/>
          </a:xfrm>
          <a:prstGeom prst="roundRect">
            <a:avLst>
              <a:gd name="adj" fmla="val 12903"/>
            </a:avLst>
          </a:prstGeom>
          <a:solidFill>
            <a:schemeClr val="tx1"/>
          </a:solidFill>
          <a:ln w="9525">
            <a:solidFill>
              <a:schemeClr val="accent6"/>
            </a:solidFill>
            <a:prstDash val="solid"/>
          </a:ln>
        </p:spPr>
      </p:sp>
      <p:sp>
        <p:nvSpPr>
          <p:cNvPr id="32" name="item texto QMIX"/>
          <p:cNvSpPr txBox="1"/>
          <p:nvPr/>
        </p:nvSpPr>
        <p:spPr>
          <a:xfrm>
            <a:off x="8458200" y="3364992"/>
            <a:ext cx="2743200" cy="566928"/>
          </a:xfrm>
          <a:prstGeom prst="rect">
            <a:avLst/>
          </a:prstGeom>
          <a:noFill/>
          <a:ln/>
        </p:spPr>
        <p:txBody>
          <a:bodyPr wrap="square" lIns="0" tIns="0" rIns="0" bIns="0" rtlCol="0" anchor="ctr"/>
          <a:lstStyle/>
          <a:p>
            <a:pPr indent="0" marL="0">
              <a:spcAft>
                <a:spcPts val="600"/>
              </a:spcAft>
              <a:buNone/>
            </a:pPr>
            <a:r>
              <a:rPr lang="en-US" sz="1500" dirty="0">
                <a:solidFill>
                  <a:schemeClr val="bg1"/>
                </a:solidFill>
              </a:rPr>
              <a:t>QMIX</a:t>
            </a:r>
            <a:endParaRPr lang="en-US" sz="1500" dirty="0"/>
          </a:p>
        </p:txBody>
      </p:sp>
      <p:sp>
        <p:nvSpPr>
          <p:cNvPr id="33" name="item MAPPO"/>
          <p:cNvSpPr/>
          <p:nvPr/>
        </p:nvSpPr>
        <p:spPr>
          <a:xfrm>
            <a:off x="8321040" y="4078224"/>
            <a:ext cx="2971800" cy="566928"/>
          </a:xfrm>
          <a:prstGeom prst="roundRect">
            <a:avLst>
              <a:gd name="adj" fmla="val 12903"/>
            </a:avLst>
          </a:prstGeom>
          <a:solidFill>
            <a:schemeClr val="tx1"/>
          </a:solidFill>
          <a:ln w="9525">
            <a:solidFill>
              <a:schemeClr val="accent6"/>
            </a:solidFill>
            <a:prstDash val="solid"/>
          </a:ln>
        </p:spPr>
      </p:sp>
      <p:sp>
        <p:nvSpPr>
          <p:cNvPr id="34" name="item texto MAPPO"/>
          <p:cNvSpPr txBox="1"/>
          <p:nvPr/>
        </p:nvSpPr>
        <p:spPr>
          <a:xfrm>
            <a:off x="8458200" y="4078224"/>
            <a:ext cx="2743200" cy="566928"/>
          </a:xfrm>
          <a:prstGeom prst="rect">
            <a:avLst/>
          </a:prstGeom>
          <a:noFill/>
          <a:ln/>
        </p:spPr>
        <p:txBody>
          <a:bodyPr wrap="square" lIns="0" tIns="0" rIns="0" bIns="0" rtlCol="0" anchor="ctr"/>
          <a:lstStyle/>
          <a:p>
            <a:pPr indent="0" marL="0">
              <a:spcAft>
                <a:spcPts val="600"/>
              </a:spcAft>
              <a:buNone/>
            </a:pPr>
            <a:r>
              <a:rPr lang="en-US" sz="1500" dirty="0">
                <a:solidFill>
                  <a:schemeClr val="bg1"/>
                </a:solidFill>
              </a:rPr>
              <a:t>MAPPO</a:t>
            </a:r>
            <a:endParaRPr lang="en-US" sz="1500" dirty="0"/>
          </a:p>
        </p:txBody>
      </p:sp>
      <p:sp>
        <p:nvSpPr>
          <p:cNvPr id="35" name="item Comunicación (DIAL)"/>
          <p:cNvSpPr/>
          <p:nvPr/>
        </p:nvSpPr>
        <p:spPr>
          <a:xfrm>
            <a:off x="8321040" y="4791456"/>
            <a:ext cx="2971800" cy="566928"/>
          </a:xfrm>
          <a:prstGeom prst="roundRect">
            <a:avLst>
              <a:gd name="adj" fmla="val 12903"/>
            </a:avLst>
          </a:prstGeom>
          <a:solidFill>
            <a:schemeClr val="tx1"/>
          </a:solidFill>
          <a:ln w="9525">
            <a:solidFill>
              <a:schemeClr val="accent6"/>
            </a:solidFill>
            <a:prstDash val="solid"/>
          </a:ln>
        </p:spPr>
      </p:sp>
      <p:sp>
        <p:nvSpPr>
          <p:cNvPr id="36" name="item texto Comunicación (DIAL)"/>
          <p:cNvSpPr txBox="1"/>
          <p:nvPr/>
        </p:nvSpPr>
        <p:spPr>
          <a:xfrm>
            <a:off x="8458200" y="4791456"/>
            <a:ext cx="2743200" cy="566928"/>
          </a:xfrm>
          <a:prstGeom prst="rect">
            <a:avLst/>
          </a:prstGeom>
          <a:noFill/>
          <a:ln/>
        </p:spPr>
        <p:txBody>
          <a:bodyPr wrap="square" lIns="0" tIns="0" rIns="0" bIns="0" rtlCol="0" anchor="ctr"/>
          <a:lstStyle/>
          <a:p>
            <a:pPr indent="0" marL="0">
              <a:spcAft>
                <a:spcPts val="600"/>
              </a:spcAft>
              <a:buNone/>
            </a:pPr>
            <a:r>
              <a:rPr lang="en-US" sz="1500" dirty="0">
                <a:solidFill>
                  <a:schemeClr val="bg1"/>
                </a:solidFill>
              </a:rPr>
              <a:t>Comunicación (DIAL)</a:t>
            </a:r>
            <a:endParaRPr lang="en-US" sz="1500" dirty="0"/>
          </a:p>
        </p:txBody>
      </p:sp>
      <p:sp>
        <p:nvSpPr>
          <p:cNvPr id="37" name="nota al pie"/>
          <p:cNvSpPr txBox="1"/>
          <p:nvPr/>
        </p:nvSpPr>
        <p:spPr>
          <a:xfrm>
            <a:off x="548640" y="5897880"/>
            <a:ext cx="11094415" cy="320040"/>
          </a:xfrm>
          <a:prstGeom prst="rect">
            <a:avLst/>
          </a:prstGeom>
          <a:noFill/>
          <a:ln/>
        </p:spPr>
        <p:txBody>
          <a:bodyPr wrap="square" lIns="0" tIns="0" rIns="0" bIns="0" rtlCol="0" anchor="ctr"/>
          <a:lstStyle/>
          <a:p>
            <a:pPr indent="0" marL="0">
              <a:buNone/>
            </a:pPr>
            <a:r>
              <a:rPr lang="en-US" sz="1100" i="1" dirty="0">
                <a:solidFill>
                  <a:schemeClr val="bg2"/>
                </a:solidFill>
              </a:rPr>
              <a:t>Más complejidad hacia la derecha · 3 líneas base y 16 configuraciones de RL con el mismo protocolo.</a:t>
            </a:r>
            <a:endParaRPr lang="en-US" sz="11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000" b="1" dirty="0">
                <a:solidFill>
                  <a:schemeClr val="bg1"/>
                </a:solidFill>
                <a:latin typeface="Arial" pitchFamily="34" charset="0"/>
                <a:ea typeface="Arial" pitchFamily="34" charset="-122"/>
                <a:cs typeface="Arial" pitchFamily="34" charset="-120"/>
              </a:rPr>
              <a:t>Hallazgo clave: el agente aprendía a bloquear una entrada</a:t>
            </a:r>
            <a:endParaRPr lang="en-US" sz="3000" dirty="0"/>
          </a:p>
        </p:txBody>
      </p:sp>
      <p:sp>
        <p:nvSpPr>
          <p:cNvPr id="3" name="explicacion"/>
          <p:cNvSpPr txBox="1"/>
          <p:nvPr/>
        </p:nvSpPr>
        <p:spPr>
          <a:xfrm>
            <a:off x="548640" y="1371600"/>
            <a:ext cx="11064240" cy="731520"/>
          </a:xfrm>
          <a:prstGeom prst="rect">
            <a:avLst/>
          </a:prstGeom>
          <a:noFill/>
          <a:ln/>
        </p:spPr>
        <p:txBody>
          <a:bodyPr wrap="square" lIns="0" tIns="0" rIns="0" bIns="0" rtlCol="0" anchor="t"/>
          <a:lstStyle/>
          <a:p>
            <a:pPr indent="0" marL="0">
              <a:spcAft>
                <a:spcPts val="600"/>
              </a:spcAft>
              <a:buNone/>
            </a:pPr>
            <a:r>
              <a:rPr lang="en-US" sz="2000" dirty="0">
                <a:solidFill>
                  <a:schemeClr val="bg1"/>
                </a:solidFill>
              </a:rPr>
              <a:t>Con la recompensa estándar de sumo-rl, los autos que no caben en el carril esperan fuera de la red sin costo.</a:t>
            </a:r>
            <a:endParaRPr lang="en-US" sz="2000" dirty="0"/>
          </a:p>
        </p:txBody>
      </p:sp>
      <p:graphicFrame>
        <p:nvGraphicFramePr>
          <p:cNvPr id="8" name="tabla atajo"/>
          <p:cNvGraphicFramePr>
            <a:graphicFrameLocks noGrp="1"/>
          </p:cNvGraphicFramePr>
          <p:nvPr>
            <p:extLst>
              <p:ext uri="{D42A27DB-BD31-4B8C-83A1-F6EECF244321}">
                <p14:modId xmlns:p14="http://schemas.microsoft.com/office/powerpoint/2010/main" val="1579011935"/>
              </p:ext>
            </p:extLst>
          </p:nvPr>
        </p:nvGraphicFramePr>
        <p:xfrm>
          <a:off x="548640" y="2240280"/>
          <a:ext cx="6949440" cy="914400"/>
        </p:xfrm>
        <a:graphic>
          <a:graphicData uri="http://schemas.openxmlformats.org/drawingml/2006/table">
            <a:tbl>
              <a:tblPr/>
              <a:tblGrid>
                <a:gridCol w="2103120"/>
                <a:gridCol w="1554480"/>
                <a:gridCol w="1645920"/>
                <a:gridCol w="1645920"/>
              </a:tblGrid>
              <a:tr h="566928">
                <a:tc>
                  <a:txBody>
                    <a:bodyPr/>
                    <a:lstStyle/>
                    <a:p>
                      <a:pPr algn="ctr" indent="0" marL="0">
                        <a:buNone/>
                      </a:pPr>
                      <a:endParaRPr lang="en-US" sz="16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171D29"/>
                    </a:solidFill>
                  </a:tcPr>
                </a:tc>
                <a:tc>
                  <a:txBody>
                    <a:bodyPr/>
                    <a:lstStyle/>
                    <a:p>
                      <a:pPr algn="ctr" indent="0" marL="0">
                        <a:buNone/>
                      </a:pPr>
                      <a:r>
                        <a:rPr lang="en-US" sz="1600" b="1" dirty="0">
                          <a:solidFill>
                            <a:srgbClr val="FF9F43"/>
                          </a:solidFill>
                          <a:latin typeface="Arial" pitchFamily="34" charset="0"/>
                          <a:ea typeface="Arial" pitchFamily="34" charset="-122"/>
                          <a:cs typeface="Arial" pitchFamily="34" charset="-120"/>
                        </a:rPr>
                        <a:t>Tiempo fijo</a:t>
                      </a:r>
                      <a:endParaRPr lang="en-US" sz="16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171D29"/>
                    </a:solidFill>
                  </a:tcPr>
                </a:tc>
                <a:tc>
                  <a:txBody>
                    <a:bodyPr/>
                    <a:lstStyle/>
                    <a:p>
                      <a:pPr algn="ctr" indent="0" marL="0">
                        <a:buNone/>
                      </a:pPr>
                      <a:r>
                        <a:rPr lang="en-US" sz="1600" b="1" dirty="0">
                          <a:solidFill>
                            <a:srgbClr val="FF6B6B"/>
                          </a:solidFill>
                          <a:latin typeface="Arial" pitchFamily="34" charset="0"/>
                          <a:ea typeface="Arial" pitchFamily="34" charset="-122"/>
                          <a:cs typeface="Arial" pitchFamily="34" charset="-120"/>
                        </a:rPr>
                        <a:t>DQN original</a:t>
                      </a:r>
                      <a:endParaRPr lang="en-US" sz="16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171D29"/>
                    </a:solidFill>
                  </a:tcPr>
                </a:tc>
                <a:tc>
                  <a:txBody>
                    <a:bodyPr/>
                    <a:lstStyle/>
                    <a:p>
                      <a:pPr algn="ctr" indent="0" marL="0">
                        <a:buNone/>
                      </a:pPr>
                      <a:r>
                        <a:rPr lang="en-US" sz="1600" b="1" dirty="0">
                          <a:solidFill>
                            <a:srgbClr val="2EE6A6"/>
                          </a:solidFill>
                          <a:latin typeface="Arial" pitchFamily="34" charset="0"/>
                          <a:ea typeface="Arial" pitchFamily="34" charset="-122"/>
                          <a:cs typeface="Arial" pitchFamily="34" charset="-120"/>
                        </a:rPr>
                        <a:t>DQN corregido</a:t>
                      </a:r>
                      <a:endParaRPr lang="en-US" sz="16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171D29"/>
                    </a:solidFill>
                  </a:tcPr>
                </a:tc>
              </a:tr>
              <a:tr h="566928">
                <a:tc>
                  <a:txBody>
                    <a:bodyPr/>
                    <a:lstStyle/>
                    <a:p>
                      <a:pPr algn="ctr" indent="0" marL="0">
                        <a:buNone/>
                      </a:pPr>
                      <a:r>
                        <a:rPr lang="en-US" sz="1600" dirty="0">
                          <a:solidFill>
                            <a:srgbClr val="A3ADBD"/>
                          </a:solidFill>
                          <a:latin typeface="Arial" pitchFamily="34" charset="0"/>
                          <a:ea typeface="Arial" pitchFamily="34" charset="-122"/>
                          <a:cs typeface="Arial" pitchFamily="34" charset="-120"/>
                        </a:rPr>
                        <a:t>Espera media</a:t>
                      </a:r>
                      <a:endParaRPr lang="en-US" sz="16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600" dirty="0">
                          <a:solidFill>
                            <a:srgbClr val="F2F4F8"/>
                          </a:solidFill>
                          <a:latin typeface="Arial" pitchFamily="34" charset="0"/>
                          <a:ea typeface="Arial" pitchFamily="34" charset="-122"/>
                          <a:cs typeface="Arial" pitchFamily="34" charset="-120"/>
                        </a:rPr>
                        <a:t>29.2 s</a:t>
                      </a:r>
                      <a:endParaRPr lang="en-US" sz="16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600" b="1" dirty="0">
                          <a:solidFill>
                            <a:srgbClr val="F2F4F8"/>
                          </a:solidFill>
                          <a:latin typeface="Arial" pitchFamily="34" charset="0"/>
                          <a:ea typeface="Arial" pitchFamily="34" charset="-122"/>
                          <a:cs typeface="Arial" pitchFamily="34" charset="-120"/>
                        </a:rPr>
                        <a:t>14.9 s</a:t>
                      </a:r>
                      <a:endParaRPr lang="en-US" sz="16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600" dirty="0">
                          <a:solidFill>
                            <a:srgbClr val="F2F4F8"/>
                          </a:solidFill>
                          <a:latin typeface="Arial" pitchFamily="34" charset="0"/>
                          <a:ea typeface="Arial" pitchFamily="34" charset="-122"/>
                          <a:cs typeface="Arial" pitchFamily="34" charset="-120"/>
                        </a:rPr>
                        <a:t>19.7 s</a:t>
                      </a:r>
                      <a:endParaRPr lang="en-US" sz="16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r>
              <a:tr h="566928">
                <a:tc>
                  <a:txBody>
                    <a:bodyPr/>
                    <a:lstStyle/>
                    <a:p>
                      <a:pPr algn="ctr" indent="0" marL="0">
                        <a:buNone/>
                      </a:pPr>
                      <a:r>
                        <a:rPr lang="en-US" sz="1600" dirty="0">
                          <a:solidFill>
                            <a:srgbClr val="A3ADBD"/>
                          </a:solidFill>
                          <a:latin typeface="Arial" pitchFamily="34" charset="0"/>
                          <a:ea typeface="Arial" pitchFamily="34" charset="-122"/>
                          <a:cs typeface="Arial" pitchFamily="34" charset="-120"/>
                        </a:rPr>
                        <a:t>No entró (backlog)</a:t>
                      </a:r>
                      <a:endParaRPr lang="en-US" sz="16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600" dirty="0">
                          <a:solidFill>
                            <a:srgbClr val="F2F4F8"/>
                          </a:solidFill>
                          <a:latin typeface="Arial" pitchFamily="34" charset="0"/>
                          <a:ea typeface="Arial" pitchFamily="34" charset="-122"/>
                          <a:cs typeface="Arial" pitchFamily="34" charset="-120"/>
                        </a:rPr>
                        <a:t>0.21 %</a:t>
                      </a:r>
                      <a:endParaRPr lang="en-US" sz="16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600" b="1" dirty="0">
                          <a:solidFill>
                            <a:srgbClr val="FF6B6B"/>
                          </a:solidFill>
                          <a:latin typeface="Arial" pitchFamily="34" charset="0"/>
                          <a:ea typeface="Arial" pitchFamily="34" charset="-122"/>
                          <a:cs typeface="Arial" pitchFamily="34" charset="-120"/>
                        </a:rPr>
                        <a:t>4.92 %</a:t>
                      </a:r>
                      <a:endParaRPr lang="en-US" sz="16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600" dirty="0">
                          <a:solidFill>
                            <a:srgbClr val="F2F4F8"/>
                          </a:solidFill>
                          <a:latin typeface="Arial" pitchFamily="34" charset="0"/>
                          <a:ea typeface="Arial" pitchFamily="34" charset="-122"/>
                          <a:cs typeface="Arial" pitchFamily="34" charset="-120"/>
                        </a:rPr>
                        <a:t>0.46 %</a:t>
                      </a:r>
                      <a:endParaRPr lang="en-US" sz="16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r>
              <a:tr h="566928">
                <a:tc>
                  <a:txBody>
                    <a:bodyPr/>
                    <a:lstStyle/>
                    <a:p>
                      <a:pPr algn="ctr" indent="0" marL="0">
                        <a:buNone/>
                      </a:pPr>
                      <a:r>
                        <a:rPr lang="en-US" sz="1600" dirty="0">
                          <a:solidFill>
                            <a:srgbClr val="A3ADBD"/>
                          </a:solidFill>
                          <a:latin typeface="Arial" pitchFamily="34" charset="0"/>
                          <a:ea typeface="Arial" pitchFamily="34" charset="-122"/>
                          <a:cs typeface="Arial" pitchFamily="34" charset="-120"/>
                        </a:rPr>
                        <a:t>Demora total</a:t>
                      </a:r>
                      <a:endParaRPr lang="en-US" sz="16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600" dirty="0">
                          <a:solidFill>
                            <a:srgbClr val="F2F4F8"/>
                          </a:solidFill>
                          <a:latin typeface="Arial" pitchFamily="34" charset="0"/>
                          <a:ea typeface="Arial" pitchFamily="34" charset="-122"/>
                          <a:cs typeface="Arial" pitchFamily="34" charset="-120"/>
                        </a:rPr>
                        <a:t>31.6 s</a:t>
                      </a:r>
                      <a:endParaRPr lang="en-US" sz="16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600" b="1" dirty="0">
                          <a:solidFill>
                            <a:srgbClr val="FF6B6B"/>
                          </a:solidFill>
                          <a:latin typeface="Arial" pitchFamily="34" charset="0"/>
                          <a:ea typeface="Arial" pitchFamily="34" charset="-122"/>
                          <a:cs typeface="Arial" pitchFamily="34" charset="-120"/>
                        </a:rPr>
                        <a:t>97.1 s</a:t>
                      </a:r>
                      <a:endParaRPr lang="en-US" sz="16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600" b="1" dirty="0">
                          <a:solidFill>
                            <a:srgbClr val="2EE6A6"/>
                          </a:solidFill>
                          <a:latin typeface="Arial" pitchFamily="34" charset="0"/>
                          <a:ea typeface="Arial" pitchFamily="34" charset="-122"/>
                          <a:cs typeface="Arial" pitchFamily="34" charset="-120"/>
                        </a:rPr>
                        <a:t>34.4 s</a:t>
                      </a:r>
                      <a:endParaRPr lang="en-US" sz="16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r>
            </a:tbl>
          </a:graphicData>
        </a:graphic>
      </p:graphicFrame>
      <p:sp>
        <p:nvSpPr>
          <p:cNvPr id="5" name="nota al pie"/>
          <p:cNvSpPr txBox="1"/>
          <p:nvPr/>
        </p:nvSpPr>
        <p:spPr>
          <a:xfrm>
            <a:off x="548640" y="4617720"/>
            <a:ext cx="6949440" cy="320040"/>
          </a:xfrm>
          <a:prstGeom prst="rect">
            <a:avLst/>
          </a:prstGeom>
          <a:noFill/>
          <a:ln/>
        </p:spPr>
        <p:txBody>
          <a:bodyPr wrap="square" lIns="0" tIns="0" rIns="0" bIns="0" rtlCol="0" anchor="ctr"/>
          <a:lstStyle/>
          <a:p>
            <a:pPr indent="0" marL="0">
              <a:buNone/>
            </a:pPr>
            <a:r>
              <a:rPr lang="en-US" sz="1100" i="1" dirty="0">
                <a:solidFill>
                  <a:schemeClr val="bg2"/>
                </a:solidFill>
              </a:rPr>
              <a:t>Cruce C12, 40 episodios de entrenamiento, 3 semillas de evaluación (corridas de sanidad).</a:t>
            </a:r>
            <a:endParaRPr lang="en-US" sz="1100" dirty="0"/>
          </a:p>
        </p:txBody>
      </p:sp>
      <p:sp>
        <p:nvSpPr>
          <p:cNvPr id="6" name="tarjeta correccion"/>
          <p:cNvSpPr/>
          <p:nvPr/>
        </p:nvSpPr>
        <p:spPr>
          <a:xfrm>
            <a:off x="7863840" y="2240280"/>
            <a:ext cx="3776472" cy="2834640"/>
          </a:xfrm>
          <a:prstGeom prst="roundRect">
            <a:avLst>
              <a:gd name="adj" fmla="val 3871"/>
            </a:avLst>
          </a:prstGeom>
          <a:solidFill>
            <a:schemeClr val="tx2"/>
          </a:solidFill>
          <a:ln w="9525">
            <a:solidFill>
              <a:schemeClr val="accent6"/>
            </a:solidFill>
            <a:prstDash val="solid"/>
          </a:ln>
        </p:spPr>
      </p:sp>
      <p:sp>
        <p:nvSpPr>
          <p:cNvPr id="7" name="punto Corrección"/>
          <p:cNvSpPr/>
          <p:nvPr/>
        </p:nvSpPr>
        <p:spPr>
          <a:xfrm>
            <a:off x="8138160" y="2551176"/>
            <a:ext cx="201168" cy="201168"/>
          </a:xfrm>
          <a:prstGeom prst="ellipse">
            <a:avLst/>
          </a:prstGeom>
          <a:solidFill>
            <a:srgbClr val="2EE6A6"/>
          </a:solidFill>
          <a:ln w="12700">
            <a:solidFill>
              <a:srgbClr val="2EE6A6"/>
            </a:solidFill>
            <a:prstDash val="solid"/>
          </a:ln>
        </p:spPr>
      </p:sp>
      <p:sp>
        <p:nvSpPr>
          <p:cNvPr id="8" name="encabezado Corrección"/>
          <p:cNvSpPr txBox="1"/>
          <p:nvPr/>
        </p:nvSpPr>
        <p:spPr>
          <a:xfrm>
            <a:off x="8458200" y="2468880"/>
            <a:ext cx="3063240" cy="365760"/>
          </a:xfrm>
          <a:prstGeom prst="rect">
            <a:avLst/>
          </a:prstGeom>
          <a:noFill/>
          <a:ln/>
        </p:spPr>
        <p:txBody>
          <a:bodyPr wrap="square" lIns="0" tIns="0" rIns="0" bIns="0" rtlCol="0" anchor="ctr"/>
          <a:lstStyle/>
          <a:p>
            <a:pPr indent="0" marL="0">
              <a:buNone/>
            </a:pPr>
            <a:r>
              <a:rPr lang="en-US" sz="2000" b="1" dirty="0">
                <a:solidFill>
                  <a:schemeClr val="bg1"/>
                </a:solidFill>
              </a:rPr>
              <a:t>Corrección</a:t>
            </a:r>
            <a:endParaRPr lang="en-US" sz="2000" dirty="0"/>
          </a:p>
        </p:txBody>
      </p:sp>
      <p:sp>
        <p:nvSpPr>
          <p:cNvPr id="9" name="correccion lista"/>
          <p:cNvSpPr txBox="1"/>
          <p:nvPr/>
        </p:nvSpPr>
        <p:spPr>
          <a:xfrm>
            <a:off x="8183880" y="3017520"/>
            <a:ext cx="3246120" cy="192024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La recompensa suma la espera de los pendientes de entrar</a:t>
            </a:r>
            <a:endParaRPr lang="en-US" sz="1600" dirty="0"/>
          </a:p>
          <a:p>
            <a:pPr marL="228600" indent="-228600">
              <a:spcAft>
                <a:spcPts val="1000"/>
              </a:spcAft>
              <a:buSzPct val="100000"/>
              <a:buChar char="•"/>
            </a:pPr>
            <a:r>
              <a:rPr lang="en-US" sz="1600" dirty="0">
                <a:solidFill>
                  <a:schemeClr val="bg1"/>
                </a:solidFill>
              </a:rPr>
              <a:t>Métrica principal: demora total por vehículo demandado</a:t>
            </a:r>
            <a:endParaRPr lang="en-US" sz="1600" dirty="0"/>
          </a:p>
        </p:txBody>
      </p:sp>
      <p:sp>
        <p:nvSpPr>
          <p:cNvPr id="10" name="conclusion atajo"/>
          <p:cNvSpPr txBox="1"/>
          <p:nvPr/>
        </p:nvSpPr>
        <p:spPr>
          <a:xfrm>
            <a:off x="548640" y="5303520"/>
            <a:ext cx="11064240" cy="45720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La espera media premiaba el atajo; la demora total lo castiga.</a:t>
            </a:r>
            <a:endParaRPr lang="en-US" sz="18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000" b="1" dirty="0">
                <a:solidFill>
                  <a:schemeClr val="bg1"/>
                </a:solidFill>
                <a:latin typeface="Arial" pitchFamily="34" charset="0"/>
                <a:ea typeface="Arial" pitchFamily="34" charset="-122"/>
                <a:cs typeface="Arial" pitchFamily="34" charset="-120"/>
              </a:rPr>
              <a:t>Protocolo: mismo presupuesto, semillas separadas</a:t>
            </a:r>
            <a:endParaRPr lang="en-US" sz="3000" dirty="0"/>
          </a:p>
        </p:txBody>
      </p:sp>
      <p:sp>
        <p:nvSpPr>
          <p:cNvPr id="3" name="paso Entrenar"/>
          <p:cNvSpPr/>
          <p:nvPr/>
        </p:nvSpPr>
        <p:spPr>
          <a:xfrm>
            <a:off x="548640" y="1463040"/>
            <a:ext cx="2606040" cy="2514600"/>
          </a:xfrm>
          <a:prstGeom prst="roundRect">
            <a:avLst>
              <a:gd name="adj" fmla="val 4364"/>
            </a:avLst>
          </a:prstGeom>
          <a:solidFill>
            <a:schemeClr val="tx2"/>
          </a:solidFill>
          <a:ln w="9525">
            <a:solidFill>
              <a:schemeClr val="accent6"/>
            </a:solidFill>
            <a:prstDash val="solid"/>
          </a:ln>
        </p:spPr>
      </p:sp>
      <p:sp>
        <p:nvSpPr>
          <p:cNvPr id="4" name="numero Entrenar"/>
          <p:cNvSpPr txBox="1"/>
          <p:nvPr/>
        </p:nvSpPr>
        <p:spPr>
          <a:xfrm>
            <a:off x="822960" y="1645920"/>
            <a:ext cx="548640" cy="548640"/>
          </a:xfrm>
          <a:prstGeom prst="rect">
            <a:avLst/>
          </a:prstGeom>
          <a:noFill/>
          <a:ln/>
        </p:spPr>
        <p:txBody>
          <a:bodyPr wrap="square" lIns="0" tIns="0" rIns="0" bIns="0" rtlCol="0" anchor="ctr"/>
          <a:lstStyle/>
          <a:p>
            <a:pPr indent="0" marL="0">
              <a:buNone/>
            </a:pPr>
            <a:r>
              <a:rPr lang="en-US" sz="2800" b="1" dirty="0">
                <a:solidFill>
                  <a:srgbClr val="2EE6A6"/>
                </a:solidFill>
              </a:rPr>
              <a:t>1</a:t>
            </a:r>
            <a:endParaRPr lang="en-US" sz="2800" dirty="0"/>
          </a:p>
        </p:txBody>
      </p:sp>
      <p:sp>
        <p:nvSpPr>
          <p:cNvPr id="5" name="paso titulo Entrenar"/>
          <p:cNvSpPr txBox="1"/>
          <p:nvPr/>
        </p:nvSpPr>
        <p:spPr>
          <a:xfrm>
            <a:off x="1417320" y="1691640"/>
            <a:ext cx="1645920" cy="457200"/>
          </a:xfrm>
          <a:prstGeom prst="rect">
            <a:avLst/>
          </a:prstGeom>
          <a:noFill/>
          <a:ln/>
        </p:spPr>
        <p:txBody>
          <a:bodyPr wrap="square" lIns="0" tIns="0" rIns="0" bIns="0" rtlCol="0" anchor="ctr"/>
          <a:lstStyle/>
          <a:p>
            <a:pPr indent="0" marL="0">
              <a:spcAft>
                <a:spcPts val="600"/>
              </a:spcAft>
              <a:buNone/>
            </a:pPr>
            <a:r>
              <a:rPr lang="en-US" sz="2000" b="1" dirty="0">
                <a:solidFill>
                  <a:schemeClr val="bg1"/>
                </a:solidFill>
              </a:rPr>
              <a:t>Entrenar</a:t>
            </a:r>
            <a:endParaRPr lang="en-US" sz="2000" dirty="0"/>
          </a:p>
        </p:txBody>
      </p:sp>
      <p:sp>
        <p:nvSpPr>
          <p:cNvPr id="6" name="paso texto Entrenar"/>
          <p:cNvSpPr txBox="1"/>
          <p:nvPr/>
        </p:nvSpPr>
        <p:spPr>
          <a:xfrm>
            <a:off x="822960" y="2331720"/>
            <a:ext cx="2103120" cy="1554480"/>
          </a:xfrm>
          <a:prstGeom prst="rect">
            <a:avLst/>
          </a:prstGeom>
          <a:noFill/>
          <a:ln/>
        </p:spPr>
        <p:txBody>
          <a:bodyPr wrap="square" lIns="0" tIns="0" rIns="0" bIns="0" rtlCol="0" anchor="t"/>
          <a:lstStyle/>
          <a:p>
            <a:pPr indent="0" marL="0">
              <a:spcAft>
                <a:spcPts val="600"/>
              </a:spcAft>
              <a:buNone/>
            </a:pPr>
            <a:r>
              <a:rPr lang="en-US" sz="1500" dirty="0">
                <a:solidFill>
                  <a:schemeClr val="bg2"/>
                </a:solidFill>
              </a:rPr>
              <a:t>5 semillas × 200 episodios = 144 000 decisiones por agente</a:t>
            </a:r>
            <a:endParaRPr lang="en-US" sz="1500" dirty="0"/>
          </a:p>
        </p:txBody>
      </p:sp>
      <p:sp>
        <p:nvSpPr>
          <p:cNvPr id="7" name="flecha 0"/>
          <p:cNvSpPr/>
          <p:nvPr/>
        </p:nvSpPr>
        <p:spPr>
          <a:xfrm>
            <a:off x="3191256" y="2606040"/>
            <a:ext cx="146304" cy="237744"/>
          </a:xfrm>
          <a:prstGeom prst="chevron">
            <a:avLst/>
          </a:prstGeom>
          <a:solidFill>
            <a:schemeClr val="accent6"/>
          </a:solidFill>
          <a:ln w="12700">
            <a:solidFill>
              <a:schemeClr val="accent6"/>
            </a:solidFill>
            <a:prstDash val="solid"/>
          </a:ln>
        </p:spPr>
      </p:sp>
      <p:sp>
        <p:nvSpPr>
          <p:cNvPr id="8" name="paso Validar"/>
          <p:cNvSpPr/>
          <p:nvPr/>
        </p:nvSpPr>
        <p:spPr>
          <a:xfrm>
            <a:off x="3364992" y="1463040"/>
            <a:ext cx="2606040" cy="2514600"/>
          </a:xfrm>
          <a:prstGeom prst="roundRect">
            <a:avLst>
              <a:gd name="adj" fmla="val 4364"/>
            </a:avLst>
          </a:prstGeom>
          <a:solidFill>
            <a:schemeClr val="tx2"/>
          </a:solidFill>
          <a:ln w="9525">
            <a:solidFill>
              <a:schemeClr val="accent6"/>
            </a:solidFill>
            <a:prstDash val="solid"/>
          </a:ln>
        </p:spPr>
      </p:sp>
      <p:sp>
        <p:nvSpPr>
          <p:cNvPr id="9" name="numero Validar"/>
          <p:cNvSpPr txBox="1"/>
          <p:nvPr/>
        </p:nvSpPr>
        <p:spPr>
          <a:xfrm>
            <a:off x="3639312" y="1645920"/>
            <a:ext cx="548640" cy="548640"/>
          </a:xfrm>
          <a:prstGeom prst="rect">
            <a:avLst/>
          </a:prstGeom>
          <a:noFill/>
          <a:ln/>
        </p:spPr>
        <p:txBody>
          <a:bodyPr wrap="square" lIns="0" tIns="0" rIns="0" bIns="0" rtlCol="0" anchor="ctr"/>
          <a:lstStyle/>
          <a:p>
            <a:pPr indent="0" marL="0">
              <a:buNone/>
            </a:pPr>
            <a:r>
              <a:rPr lang="en-US" sz="2800" b="1" dirty="0">
                <a:solidFill>
                  <a:srgbClr val="C9CED6"/>
                </a:solidFill>
              </a:rPr>
              <a:t>2</a:t>
            </a:r>
            <a:endParaRPr lang="en-US" sz="2800" dirty="0"/>
          </a:p>
        </p:txBody>
      </p:sp>
      <p:sp>
        <p:nvSpPr>
          <p:cNvPr id="10" name="paso titulo Validar"/>
          <p:cNvSpPr txBox="1"/>
          <p:nvPr/>
        </p:nvSpPr>
        <p:spPr>
          <a:xfrm>
            <a:off x="4233672" y="1691640"/>
            <a:ext cx="1645920" cy="457200"/>
          </a:xfrm>
          <a:prstGeom prst="rect">
            <a:avLst/>
          </a:prstGeom>
          <a:noFill/>
          <a:ln/>
        </p:spPr>
        <p:txBody>
          <a:bodyPr wrap="square" lIns="0" tIns="0" rIns="0" bIns="0" rtlCol="0" anchor="ctr"/>
          <a:lstStyle/>
          <a:p>
            <a:pPr indent="0" marL="0">
              <a:spcAft>
                <a:spcPts val="600"/>
              </a:spcAft>
              <a:buNone/>
            </a:pPr>
            <a:r>
              <a:rPr lang="en-US" sz="2000" b="1" dirty="0">
                <a:solidFill>
                  <a:schemeClr val="bg1"/>
                </a:solidFill>
              </a:rPr>
              <a:t>Validar</a:t>
            </a:r>
            <a:endParaRPr lang="en-US" sz="2000" dirty="0"/>
          </a:p>
        </p:txBody>
      </p:sp>
      <p:sp>
        <p:nvSpPr>
          <p:cNvPr id="11" name="paso texto Validar"/>
          <p:cNvSpPr txBox="1"/>
          <p:nvPr/>
        </p:nvSpPr>
        <p:spPr>
          <a:xfrm>
            <a:off x="3639312" y="2331720"/>
            <a:ext cx="2103120" cy="1554480"/>
          </a:xfrm>
          <a:prstGeom prst="rect">
            <a:avLst/>
          </a:prstGeom>
          <a:noFill/>
          <a:ln/>
        </p:spPr>
        <p:txBody>
          <a:bodyPr wrap="square" lIns="0" tIns="0" rIns="0" bIns="0" rtlCol="0" anchor="t"/>
          <a:lstStyle/>
          <a:p>
            <a:pPr indent="0" marL="0">
              <a:spcAft>
                <a:spcPts val="600"/>
              </a:spcAft>
              <a:buNone/>
            </a:pPr>
            <a:r>
              <a:rPr lang="en-US" sz="1500" dirty="0">
                <a:solidFill>
                  <a:schemeClr val="bg2"/>
                </a:solidFill>
              </a:rPr>
              <a:t>Checkpoint cada 20 episodios; se elige el mejor con semillas 2000 y 2001</a:t>
            </a:r>
            <a:endParaRPr lang="en-US" sz="1500" dirty="0"/>
          </a:p>
        </p:txBody>
      </p:sp>
      <p:sp>
        <p:nvSpPr>
          <p:cNvPr id="12" name="flecha 1"/>
          <p:cNvSpPr/>
          <p:nvPr/>
        </p:nvSpPr>
        <p:spPr>
          <a:xfrm>
            <a:off x="6007608" y="2606040"/>
            <a:ext cx="146304" cy="237744"/>
          </a:xfrm>
          <a:prstGeom prst="chevron">
            <a:avLst/>
          </a:prstGeom>
          <a:solidFill>
            <a:schemeClr val="accent6"/>
          </a:solidFill>
          <a:ln w="12700">
            <a:solidFill>
              <a:schemeClr val="accent6"/>
            </a:solidFill>
            <a:prstDash val="solid"/>
          </a:ln>
        </p:spPr>
      </p:sp>
      <p:sp>
        <p:nvSpPr>
          <p:cNvPr id="13" name="paso Evaluar"/>
          <p:cNvSpPr/>
          <p:nvPr/>
        </p:nvSpPr>
        <p:spPr>
          <a:xfrm>
            <a:off x="6181344" y="1463040"/>
            <a:ext cx="2606040" cy="2514600"/>
          </a:xfrm>
          <a:prstGeom prst="roundRect">
            <a:avLst>
              <a:gd name="adj" fmla="val 4364"/>
            </a:avLst>
          </a:prstGeom>
          <a:solidFill>
            <a:schemeClr val="tx2"/>
          </a:solidFill>
          <a:ln w="9525">
            <a:solidFill>
              <a:schemeClr val="accent6"/>
            </a:solidFill>
            <a:prstDash val="solid"/>
          </a:ln>
        </p:spPr>
      </p:sp>
      <p:sp>
        <p:nvSpPr>
          <p:cNvPr id="14" name="numero Evaluar"/>
          <p:cNvSpPr txBox="1"/>
          <p:nvPr/>
        </p:nvSpPr>
        <p:spPr>
          <a:xfrm>
            <a:off x="6455664" y="1645920"/>
            <a:ext cx="548640" cy="548640"/>
          </a:xfrm>
          <a:prstGeom prst="rect">
            <a:avLst/>
          </a:prstGeom>
          <a:noFill/>
          <a:ln/>
        </p:spPr>
        <p:txBody>
          <a:bodyPr wrap="square" lIns="0" tIns="0" rIns="0" bIns="0" rtlCol="0" anchor="ctr"/>
          <a:lstStyle/>
          <a:p>
            <a:pPr indent="0" marL="0">
              <a:buNone/>
            </a:pPr>
            <a:r>
              <a:rPr lang="en-US" sz="2800" b="1" dirty="0">
                <a:solidFill>
                  <a:srgbClr val="C9CED6"/>
                </a:solidFill>
              </a:rPr>
              <a:t>3</a:t>
            </a:r>
            <a:endParaRPr lang="en-US" sz="2800" dirty="0"/>
          </a:p>
        </p:txBody>
      </p:sp>
      <p:sp>
        <p:nvSpPr>
          <p:cNvPr id="15" name="paso titulo Evaluar"/>
          <p:cNvSpPr txBox="1"/>
          <p:nvPr/>
        </p:nvSpPr>
        <p:spPr>
          <a:xfrm>
            <a:off x="7050024" y="1691640"/>
            <a:ext cx="1645920" cy="457200"/>
          </a:xfrm>
          <a:prstGeom prst="rect">
            <a:avLst/>
          </a:prstGeom>
          <a:noFill/>
          <a:ln/>
        </p:spPr>
        <p:txBody>
          <a:bodyPr wrap="square" lIns="0" tIns="0" rIns="0" bIns="0" rtlCol="0" anchor="ctr"/>
          <a:lstStyle/>
          <a:p>
            <a:pPr indent="0" marL="0">
              <a:spcAft>
                <a:spcPts val="600"/>
              </a:spcAft>
              <a:buNone/>
            </a:pPr>
            <a:r>
              <a:rPr lang="en-US" sz="2000" b="1" dirty="0">
                <a:solidFill>
                  <a:schemeClr val="bg1"/>
                </a:solidFill>
              </a:rPr>
              <a:t>Evaluar</a:t>
            </a:r>
            <a:endParaRPr lang="en-US" sz="2000" dirty="0"/>
          </a:p>
        </p:txBody>
      </p:sp>
      <p:sp>
        <p:nvSpPr>
          <p:cNvPr id="16" name="paso texto Evaluar"/>
          <p:cNvSpPr txBox="1"/>
          <p:nvPr/>
        </p:nvSpPr>
        <p:spPr>
          <a:xfrm>
            <a:off x="6455664" y="2331720"/>
            <a:ext cx="2103120" cy="1554480"/>
          </a:xfrm>
          <a:prstGeom prst="rect">
            <a:avLst/>
          </a:prstGeom>
          <a:noFill/>
          <a:ln/>
        </p:spPr>
        <p:txBody>
          <a:bodyPr wrap="square" lIns="0" tIns="0" rIns="0" bIns="0" rtlCol="0" anchor="t"/>
          <a:lstStyle/>
          <a:p>
            <a:pPr indent="0" marL="0">
              <a:spcAft>
                <a:spcPts val="600"/>
              </a:spcAft>
              <a:buNone/>
            </a:pPr>
            <a:r>
              <a:rPr lang="en-US" sz="1500" dirty="0">
                <a:solidFill>
                  <a:schemeClr val="bg2"/>
                </a:solidFill>
              </a:rPr>
              <a:t>10 episodios nunca vistos (semillas 1000 a 1009)</a:t>
            </a:r>
            <a:endParaRPr lang="en-US" sz="1500" dirty="0"/>
          </a:p>
        </p:txBody>
      </p:sp>
      <p:sp>
        <p:nvSpPr>
          <p:cNvPr id="17" name="flecha 2"/>
          <p:cNvSpPr/>
          <p:nvPr/>
        </p:nvSpPr>
        <p:spPr>
          <a:xfrm>
            <a:off x="8823960" y="2606040"/>
            <a:ext cx="146304" cy="237744"/>
          </a:xfrm>
          <a:prstGeom prst="chevron">
            <a:avLst/>
          </a:prstGeom>
          <a:solidFill>
            <a:schemeClr val="accent6"/>
          </a:solidFill>
          <a:ln w="12700">
            <a:solidFill>
              <a:schemeClr val="accent6"/>
            </a:solidFill>
            <a:prstDash val="solid"/>
          </a:ln>
        </p:spPr>
      </p:sp>
      <p:sp>
        <p:nvSpPr>
          <p:cNvPr id="18" name="paso Comparar"/>
          <p:cNvSpPr/>
          <p:nvPr/>
        </p:nvSpPr>
        <p:spPr>
          <a:xfrm>
            <a:off x="8997696" y="1463040"/>
            <a:ext cx="2606040" cy="2514600"/>
          </a:xfrm>
          <a:prstGeom prst="roundRect">
            <a:avLst>
              <a:gd name="adj" fmla="val 4364"/>
            </a:avLst>
          </a:prstGeom>
          <a:solidFill>
            <a:schemeClr val="tx2"/>
          </a:solidFill>
          <a:ln w="9525">
            <a:solidFill>
              <a:schemeClr val="accent6"/>
            </a:solidFill>
            <a:prstDash val="solid"/>
          </a:ln>
        </p:spPr>
      </p:sp>
      <p:sp>
        <p:nvSpPr>
          <p:cNvPr id="19" name="numero Comparar"/>
          <p:cNvSpPr txBox="1"/>
          <p:nvPr/>
        </p:nvSpPr>
        <p:spPr>
          <a:xfrm>
            <a:off x="9272016" y="1645920"/>
            <a:ext cx="548640" cy="548640"/>
          </a:xfrm>
          <a:prstGeom prst="rect">
            <a:avLst/>
          </a:prstGeom>
          <a:noFill/>
          <a:ln/>
        </p:spPr>
        <p:txBody>
          <a:bodyPr wrap="square" lIns="0" tIns="0" rIns="0" bIns="0" rtlCol="0" anchor="ctr"/>
          <a:lstStyle/>
          <a:p>
            <a:pPr indent="0" marL="0">
              <a:buNone/>
            </a:pPr>
            <a:r>
              <a:rPr lang="en-US" sz="2800" b="1" dirty="0">
                <a:solidFill>
                  <a:srgbClr val="FF9F43"/>
                </a:solidFill>
              </a:rPr>
              <a:t>4</a:t>
            </a:r>
            <a:endParaRPr lang="en-US" sz="2800" dirty="0"/>
          </a:p>
        </p:txBody>
      </p:sp>
      <p:sp>
        <p:nvSpPr>
          <p:cNvPr id="20" name="paso titulo Comparar"/>
          <p:cNvSpPr txBox="1"/>
          <p:nvPr/>
        </p:nvSpPr>
        <p:spPr>
          <a:xfrm>
            <a:off x="9866376" y="1691640"/>
            <a:ext cx="1645920" cy="457200"/>
          </a:xfrm>
          <a:prstGeom prst="rect">
            <a:avLst/>
          </a:prstGeom>
          <a:noFill/>
          <a:ln/>
        </p:spPr>
        <p:txBody>
          <a:bodyPr wrap="square" lIns="0" tIns="0" rIns="0" bIns="0" rtlCol="0" anchor="ctr"/>
          <a:lstStyle/>
          <a:p>
            <a:pPr indent="0" marL="0">
              <a:spcAft>
                <a:spcPts val="600"/>
              </a:spcAft>
              <a:buNone/>
            </a:pPr>
            <a:r>
              <a:rPr lang="en-US" sz="2000" b="1" dirty="0">
                <a:solidFill>
                  <a:schemeClr val="bg1"/>
                </a:solidFill>
              </a:rPr>
              <a:t>Comparar</a:t>
            </a:r>
            <a:endParaRPr lang="en-US" sz="2000" dirty="0"/>
          </a:p>
        </p:txBody>
      </p:sp>
      <p:sp>
        <p:nvSpPr>
          <p:cNvPr id="21" name="paso texto Comparar"/>
          <p:cNvSpPr txBox="1"/>
          <p:nvPr/>
        </p:nvSpPr>
        <p:spPr>
          <a:xfrm>
            <a:off x="9272016" y="2331720"/>
            <a:ext cx="2103120" cy="1554480"/>
          </a:xfrm>
          <a:prstGeom prst="rect">
            <a:avLst/>
          </a:prstGeom>
          <a:noFill/>
          <a:ln/>
        </p:spPr>
        <p:txBody>
          <a:bodyPr wrap="square" lIns="0" tIns="0" rIns="0" bIns="0" rtlCol="0" anchor="t"/>
          <a:lstStyle/>
          <a:p>
            <a:pPr indent="0" marL="0">
              <a:spcAft>
                <a:spcPts val="600"/>
              </a:spcAft>
              <a:buNone/>
            </a:pPr>
            <a:r>
              <a:rPr lang="en-US" sz="1500" dirty="0">
                <a:solidFill>
                  <a:schemeClr val="bg2"/>
                </a:solidFill>
              </a:rPr>
              <a:t>Media ± IC95; t de Welch con corrección de Holm</a:t>
            </a:r>
            <a:endParaRPr lang="en-US" sz="1500" dirty="0"/>
          </a:p>
        </p:txBody>
      </p:sp>
      <p:sp>
        <p:nvSpPr>
          <p:cNvPr id="22" name="tarjeta metrica"/>
          <p:cNvSpPr/>
          <p:nvPr/>
        </p:nvSpPr>
        <p:spPr>
          <a:xfrm>
            <a:off x="548640" y="4297680"/>
            <a:ext cx="11094415" cy="1463040"/>
          </a:xfrm>
          <a:prstGeom prst="roundRect">
            <a:avLst>
              <a:gd name="adj" fmla="val 7500"/>
            </a:avLst>
          </a:prstGeom>
          <a:solidFill>
            <a:schemeClr val="tx2"/>
          </a:solidFill>
          <a:ln w="9525">
            <a:solidFill>
              <a:schemeClr val="accent6"/>
            </a:solidFill>
            <a:prstDash val="solid"/>
          </a:ln>
        </p:spPr>
      </p:sp>
      <p:sp>
        <p:nvSpPr>
          <p:cNvPr id="23" name="punto Métrica principal: demora total (s/veh demandado)"/>
          <p:cNvSpPr/>
          <p:nvPr/>
        </p:nvSpPr>
        <p:spPr>
          <a:xfrm>
            <a:off x="822960" y="4581144"/>
            <a:ext cx="201168" cy="201168"/>
          </a:xfrm>
          <a:prstGeom prst="ellipse">
            <a:avLst/>
          </a:prstGeom>
          <a:solidFill>
            <a:srgbClr val="2EE6A6"/>
          </a:solidFill>
          <a:ln w="12700">
            <a:solidFill>
              <a:srgbClr val="2EE6A6"/>
            </a:solidFill>
            <a:prstDash val="solid"/>
          </a:ln>
        </p:spPr>
      </p:sp>
      <p:sp>
        <p:nvSpPr>
          <p:cNvPr id="24" name="encabezado Métrica principal: demora total (s/veh demandado)"/>
          <p:cNvSpPr txBox="1"/>
          <p:nvPr/>
        </p:nvSpPr>
        <p:spPr>
          <a:xfrm>
            <a:off x="1143000" y="4498848"/>
            <a:ext cx="10195560" cy="365760"/>
          </a:xfrm>
          <a:prstGeom prst="rect">
            <a:avLst/>
          </a:prstGeom>
          <a:noFill/>
          <a:ln/>
        </p:spPr>
        <p:txBody>
          <a:bodyPr wrap="square" lIns="0" tIns="0" rIns="0" bIns="0" rtlCol="0" anchor="ctr"/>
          <a:lstStyle/>
          <a:p>
            <a:pPr indent="0" marL="0">
              <a:buNone/>
            </a:pPr>
            <a:r>
              <a:rPr lang="en-US" sz="2000" b="1" dirty="0">
                <a:solidFill>
                  <a:schemeClr val="bg1"/>
                </a:solidFill>
              </a:rPr>
              <a:t>Métrica principal: demora total (s/veh demandado)</a:t>
            </a:r>
            <a:endParaRPr lang="en-US" sz="2000" dirty="0"/>
          </a:p>
        </p:txBody>
      </p:sp>
      <p:sp>
        <p:nvSpPr>
          <p:cNvPr id="25" name="metrica texto"/>
          <p:cNvSpPr txBox="1"/>
          <p:nvPr/>
        </p:nvSpPr>
        <p:spPr>
          <a:xfrm>
            <a:off x="1143000" y="4983480"/>
            <a:ext cx="10332720" cy="548640"/>
          </a:xfrm>
          <a:prstGeom prst="rect">
            <a:avLst/>
          </a:prstGeom>
          <a:noFill/>
          <a:ln/>
        </p:spPr>
        <p:txBody>
          <a:bodyPr wrap="square" lIns="0" tIns="0" rIns="0" bIns="0" rtlCol="0" anchor="t"/>
          <a:lstStyle/>
          <a:p>
            <a:pPr indent="0" marL="0">
              <a:spcAft>
                <a:spcPts val="600"/>
              </a:spcAft>
              <a:buNone/>
            </a:pPr>
            <a:r>
              <a:rPr lang="en-US" sz="1700" dirty="0">
                <a:solidFill>
                  <a:schemeClr val="bg2"/>
                </a:solidFill>
              </a:rPr>
              <a:t>Espera en la red + retraso de inserción + espera afuera de quienes nunca entraron.</a:t>
            </a:r>
            <a:endParaRPr lang="en-US" sz="17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000" b="1" dirty="0">
                <a:solidFill>
                  <a:schemeClr val="bg1"/>
                </a:solidFill>
                <a:latin typeface="Arial" pitchFamily="34" charset="0"/>
                <a:ea typeface="Arial" pitchFamily="34" charset="-122"/>
                <a:cs typeface="Arial" pitchFamily="34" charset="-120"/>
              </a:rPr>
              <a:t>E1 · Max-pressure es una línea base muy fuerte</a:t>
            </a:r>
            <a:endParaRPr lang="en-US" sz="3000" dirty="0"/>
          </a:p>
        </p:txBody>
      </p:sp>
      <p:sp>
        <p:nvSpPr>
          <p:cNvPr id="3" name="titulo grafica"/>
          <p:cNvSpPr txBox="1"/>
          <p:nvPr/>
        </p:nvSpPr>
        <p:spPr>
          <a:xfrm>
            <a:off x="548640" y="1371600"/>
            <a:ext cx="6035040" cy="365760"/>
          </a:xfrm>
          <a:prstGeom prst="rect">
            <a:avLst/>
          </a:prstGeom>
          <a:noFill/>
          <a:ln/>
        </p:spPr>
        <p:txBody>
          <a:bodyPr wrap="square" lIns="0" tIns="0" rIns="0" bIns="0" rtlCol="0" anchor="t"/>
          <a:lstStyle/>
          <a:p>
            <a:pPr indent="0" marL="0">
              <a:spcAft>
                <a:spcPts val="600"/>
              </a:spcAft>
              <a:buNone/>
            </a:pPr>
            <a:r>
              <a:rPr lang="en-US" sz="1600" b="1" dirty="0">
                <a:solidFill>
                  <a:schemeClr val="bg2"/>
                </a:solidFill>
              </a:rPr>
              <a:t>Corredor, hora pico · demora total (s/veh)</a:t>
            </a:r>
            <a:endParaRPr lang="en-US" sz="1600" dirty="0"/>
          </a:p>
        </p:txBody>
      </p:sp>
      <p:graphicFrame>
        <p:nvGraphicFramePr>
          <p:cNvPr id="4" name="Grafica E1 corredor" descr=""/>
          <p:cNvGraphicFramePr/>
          <p:nvPr/>
        </p:nvGraphicFramePr>
        <p:xfrm>
          <a:off x="548640" y="1783080"/>
          <a:ext cx="6217920" cy="3108960"/>
        </p:xfrm>
        <a:graphic xmlns:a="http://schemas.openxmlformats.org/drawingml/2006/main">
          <a:graphicData uri="http://schemas.openxmlformats.org/drawingml/2006/chart">
            <c:chart xmlns:c="http://schemas.openxmlformats.org/drawingml/2006/chart" r:id="rId1"/>
          </a:graphicData>
        </a:graphic>
      </p:graphicFrame>
      <p:sp>
        <p:nvSpPr>
          <p:cNvPr id="5" name="nota al pie"/>
          <p:cNvSpPr txBox="1"/>
          <p:nvPr/>
        </p:nvSpPr>
        <p:spPr>
          <a:xfrm>
            <a:off x="548640" y="4983480"/>
            <a:ext cx="6217920" cy="320040"/>
          </a:xfrm>
          <a:prstGeom prst="rect">
            <a:avLst/>
          </a:prstGeom>
          <a:noFill/>
          <a:ln/>
        </p:spPr>
        <p:txBody>
          <a:bodyPr wrap="square" lIns="0" tIns="0" rIns="0" bIns="0" rtlCol="0" anchor="ctr"/>
          <a:lstStyle/>
          <a:p>
            <a:pPr indent="0" marL="0">
              <a:buNone/>
            </a:pPr>
            <a:r>
              <a:rPr lang="en-US" sz="1100" i="1" dirty="0">
                <a:solidFill>
                  <a:schemeClr val="bg2"/>
                </a:solidFill>
              </a:rPr>
              <a:t>Media ± IC95 entre 10 episodios de evaluación.</a:t>
            </a:r>
            <a:endParaRPr lang="en-US" sz="1100" dirty="0"/>
          </a:p>
        </p:txBody>
      </p:sp>
      <p:sp>
        <p:nvSpPr>
          <p:cNvPr id="6" name="tarjeta −47 %"/>
          <p:cNvSpPr/>
          <p:nvPr/>
        </p:nvSpPr>
        <p:spPr>
          <a:xfrm>
            <a:off x="7223760" y="1417320"/>
            <a:ext cx="4416552" cy="1298448"/>
          </a:xfrm>
          <a:prstGeom prst="roundRect">
            <a:avLst>
              <a:gd name="adj" fmla="val 8451"/>
            </a:avLst>
          </a:prstGeom>
          <a:solidFill>
            <a:schemeClr val="tx2"/>
          </a:solidFill>
          <a:ln w="9525">
            <a:solidFill>
              <a:schemeClr val="accent6"/>
            </a:solidFill>
            <a:prstDash val="solid"/>
          </a:ln>
        </p:spPr>
      </p:sp>
      <p:sp>
        <p:nvSpPr>
          <p:cNvPr id="7" name="cifra −47 %"/>
          <p:cNvSpPr txBox="1"/>
          <p:nvPr/>
        </p:nvSpPr>
        <p:spPr>
          <a:xfrm>
            <a:off x="7452360" y="1554480"/>
            <a:ext cx="4023360" cy="548640"/>
          </a:xfrm>
          <a:prstGeom prst="rect">
            <a:avLst/>
          </a:prstGeom>
          <a:noFill/>
          <a:ln/>
        </p:spPr>
        <p:txBody>
          <a:bodyPr wrap="square" lIns="0" tIns="0" rIns="0" bIns="0" rtlCol="0" anchor="ctr"/>
          <a:lstStyle/>
          <a:p>
            <a:pPr indent="0" marL="0">
              <a:buNone/>
            </a:pPr>
            <a:r>
              <a:rPr lang="en-US" sz="3000" b="1" dirty="0">
                <a:solidFill>
                  <a:srgbClr val="2EE6A6"/>
                </a:solidFill>
              </a:rPr>
              <a:t>−47 %</a:t>
            </a:r>
            <a:endParaRPr lang="en-US" sz="3000" dirty="0"/>
          </a:p>
        </p:txBody>
      </p:sp>
      <p:sp>
        <p:nvSpPr>
          <p:cNvPr id="8" name="etiqueta −47 %"/>
          <p:cNvSpPr txBox="1"/>
          <p:nvPr/>
        </p:nvSpPr>
        <p:spPr>
          <a:xfrm>
            <a:off x="7452360" y="2148840"/>
            <a:ext cx="4023360" cy="502920"/>
          </a:xfrm>
          <a:prstGeom prst="rect">
            <a:avLst/>
          </a:prstGeom>
          <a:noFill/>
          <a:ln/>
        </p:spPr>
        <p:txBody>
          <a:bodyPr wrap="square" lIns="0" tIns="0" rIns="0" bIns="0" rtlCol="0" anchor="t"/>
          <a:lstStyle/>
          <a:p>
            <a:pPr indent="0" marL="0">
              <a:spcAft>
                <a:spcPts val="600"/>
              </a:spcAft>
              <a:buNone/>
            </a:pPr>
            <a:r>
              <a:rPr lang="en-US" sz="1400" dirty="0">
                <a:solidFill>
                  <a:schemeClr val="bg2"/>
                </a:solidFill>
              </a:rPr>
              <a:t>max-pressure frente al fijo en el corredor (41.7 vs 79.1 s)</a:t>
            </a:r>
            <a:endParaRPr lang="en-US" sz="1400" dirty="0"/>
          </a:p>
        </p:txBody>
      </p:sp>
      <p:sp>
        <p:nvSpPr>
          <p:cNvPr id="9" name="tarjeta −41 %"/>
          <p:cNvSpPr/>
          <p:nvPr/>
        </p:nvSpPr>
        <p:spPr>
          <a:xfrm>
            <a:off x="7223760" y="2880360"/>
            <a:ext cx="4416552" cy="1298448"/>
          </a:xfrm>
          <a:prstGeom prst="roundRect">
            <a:avLst>
              <a:gd name="adj" fmla="val 8451"/>
            </a:avLst>
          </a:prstGeom>
          <a:solidFill>
            <a:schemeClr val="tx2"/>
          </a:solidFill>
          <a:ln w="9525">
            <a:solidFill>
              <a:schemeClr val="accent6"/>
            </a:solidFill>
            <a:prstDash val="solid"/>
          </a:ln>
        </p:spPr>
      </p:sp>
      <p:sp>
        <p:nvSpPr>
          <p:cNvPr id="10" name="cifra −41 %"/>
          <p:cNvSpPr txBox="1"/>
          <p:nvPr/>
        </p:nvSpPr>
        <p:spPr>
          <a:xfrm>
            <a:off x="7452360" y="3017520"/>
            <a:ext cx="4023360" cy="548640"/>
          </a:xfrm>
          <a:prstGeom prst="rect">
            <a:avLst/>
          </a:prstGeom>
          <a:noFill/>
          <a:ln/>
        </p:spPr>
        <p:txBody>
          <a:bodyPr wrap="square" lIns="0" tIns="0" rIns="0" bIns="0" rtlCol="0" anchor="ctr"/>
          <a:lstStyle/>
          <a:p>
            <a:pPr indent="0" marL="0">
              <a:buNone/>
            </a:pPr>
            <a:r>
              <a:rPr lang="en-US" sz="3000" b="1" dirty="0">
                <a:solidFill>
                  <a:srgbClr val="2EE6A6"/>
                </a:solidFill>
              </a:rPr>
              <a:t>−41 %</a:t>
            </a:r>
            <a:endParaRPr lang="en-US" sz="3000" dirty="0"/>
          </a:p>
        </p:txBody>
      </p:sp>
      <p:sp>
        <p:nvSpPr>
          <p:cNvPr id="11" name="etiqueta −41 %"/>
          <p:cNvSpPr txBox="1"/>
          <p:nvPr/>
        </p:nvSpPr>
        <p:spPr>
          <a:xfrm>
            <a:off x="7452360" y="3611880"/>
            <a:ext cx="4023360" cy="502920"/>
          </a:xfrm>
          <a:prstGeom prst="rect">
            <a:avLst/>
          </a:prstGeom>
          <a:noFill/>
          <a:ln/>
        </p:spPr>
        <p:txBody>
          <a:bodyPr wrap="square" lIns="0" tIns="0" rIns="0" bIns="0" rtlCol="0" anchor="t"/>
          <a:lstStyle/>
          <a:p>
            <a:pPr indent="0" marL="0">
              <a:spcAft>
                <a:spcPts val="600"/>
              </a:spcAft>
              <a:buNone/>
            </a:pPr>
            <a:r>
              <a:rPr lang="en-US" sz="1400" dirty="0">
                <a:solidFill>
                  <a:schemeClr val="bg2"/>
                </a:solidFill>
              </a:rPr>
              <a:t>en el cruce C12 (19.8 vs 33.6 s)</a:t>
            </a:r>
            <a:endParaRPr lang="en-US" sz="1400" dirty="0"/>
          </a:p>
        </p:txBody>
      </p:sp>
      <p:sp>
        <p:nvSpPr>
          <p:cNvPr id="12" name="tarjeta 12.7–15.7 %"/>
          <p:cNvSpPr/>
          <p:nvPr/>
        </p:nvSpPr>
        <p:spPr>
          <a:xfrm>
            <a:off x="7223760" y="4343400"/>
            <a:ext cx="4416552" cy="1298448"/>
          </a:xfrm>
          <a:prstGeom prst="roundRect">
            <a:avLst>
              <a:gd name="adj" fmla="val 8451"/>
            </a:avLst>
          </a:prstGeom>
          <a:solidFill>
            <a:schemeClr val="tx2"/>
          </a:solidFill>
          <a:ln w="9525">
            <a:solidFill>
              <a:schemeClr val="accent6"/>
            </a:solidFill>
            <a:prstDash val="solid"/>
          </a:ln>
        </p:spPr>
      </p:sp>
      <p:sp>
        <p:nvSpPr>
          <p:cNvPr id="13" name="cifra 12.7–15.7 %"/>
          <p:cNvSpPr txBox="1"/>
          <p:nvPr/>
        </p:nvSpPr>
        <p:spPr>
          <a:xfrm>
            <a:off x="7452360" y="4480560"/>
            <a:ext cx="4023360" cy="548640"/>
          </a:xfrm>
          <a:prstGeom prst="rect">
            <a:avLst/>
          </a:prstGeom>
          <a:noFill/>
          <a:ln/>
        </p:spPr>
        <p:txBody>
          <a:bodyPr wrap="square" lIns="0" tIns="0" rIns="0" bIns="0" rtlCol="0" anchor="ctr"/>
          <a:lstStyle/>
          <a:p>
            <a:pPr indent="0" marL="0">
              <a:buNone/>
            </a:pPr>
            <a:r>
              <a:rPr lang="en-US" sz="3000" b="1" dirty="0">
                <a:solidFill>
                  <a:srgbClr val="FF6B6B"/>
                </a:solidFill>
              </a:rPr>
              <a:t>12.7–15.7 %</a:t>
            </a:r>
            <a:endParaRPr lang="en-US" sz="3000" dirty="0"/>
          </a:p>
        </p:txBody>
      </p:sp>
      <p:sp>
        <p:nvSpPr>
          <p:cNvPr id="14" name="etiqueta 12.7–15.7 %"/>
          <p:cNvSpPr txBox="1"/>
          <p:nvPr/>
        </p:nvSpPr>
        <p:spPr>
          <a:xfrm>
            <a:off x="7452360" y="5074920"/>
            <a:ext cx="4023360" cy="502920"/>
          </a:xfrm>
          <a:prstGeom prst="rect">
            <a:avLst/>
          </a:prstGeom>
          <a:noFill/>
          <a:ln/>
        </p:spPr>
        <p:txBody>
          <a:bodyPr wrap="square" lIns="0" tIns="0" rIns="0" bIns="0" rtlCol="0" anchor="t"/>
          <a:lstStyle/>
          <a:p>
            <a:pPr indent="0" marL="0">
              <a:spcAft>
                <a:spcPts val="600"/>
              </a:spcAft>
              <a:buNone/>
            </a:pPr>
            <a:r>
              <a:rPr lang="en-US" sz="1400" dirty="0">
                <a:solidFill>
                  <a:schemeClr val="bg2"/>
                </a:solidFill>
              </a:rPr>
              <a:t>de la demanda no entra con +30 % de demanda</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000" b="1" dirty="0">
                <a:solidFill>
                  <a:schemeClr val="bg1"/>
                </a:solidFill>
                <a:latin typeface="Arial" pitchFamily="34" charset="0"/>
                <a:ea typeface="Arial" pitchFamily="34" charset="-122"/>
                <a:cs typeface="Arial" pitchFamily="34" charset="-120"/>
              </a:rPr>
              <a:t>E2–E4 · Un cruce: DQN y PPO cerca de max-pressure</a:t>
            </a:r>
            <a:endParaRPr lang="en-US" sz="3000" dirty="0"/>
          </a:p>
        </p:txBody>
      </p:sp>
      <p:sp>
        <p:nvSpPr>
          <p:cNvPr id="3" name="titulo grafica"/>
          <p:cNvSpPr txBox="1"/>
          <p:nvPr/>
        </p:nvSpPr>
        <p:spPr>
          <a:xfrm>
            <a:off x="548640" y="1371600"/>
            <a:ext cx="6400800" cy="365760"/>
          </a:xfrm>
          <a:prstGeom prst="rect">
            <a:avLst/>
          </a:prstGeom>
          <a:noFill/>
          <a:ln/>
        </p:spPr>
        <p:txBody>
          <a:bodyPr wrap="square" lIns="0" tIns="0" rIns="0" bIns="0" rtlCol="0" anchor="t"/>
          <a:lstStyle/>
          <a:p>
            <a:pPr indent="0" marL="0">
              <a:spcAft>
                <a:spcPts val="600"/>
              </a:spcAft>
              <a:buNone/>
            </a:pPr>
            <a:r>
              <a:rPr lang="en-US" sz="1600" b="1" dirty="0">
                <a:solidFill>
                  <a:schemeClr val="bg2"/>
                </a:solidFill>
              </a:rPr>
              <a:t>Cruce C12, hora pico · demora total (s/veh)</a:t>
            </a:r>
            <a:endParaRPr lang="en-US" sz="1600" dirty="0"/>
          </a:p>
        </p:txBody>
      </p:sp>
      <p:graphicFrame>
        <p:nvGraphicFramePr>
          <p:cNvPr id="4" name="Grafica E2-E4 cruce" descr=""/>
          <p:cNvGraphicFramePr/>
          <p:nvPr/>
        </p:nvGraphicFramePr>
        <p:xfrm>
          <a:off x="548640" y="1737360"/>
          <a:ext cx="6400800" cy="4114800"/>
        </p:xfrm>
        <a:graphic xmlns:a="http://schemas.openxmlformats.org/drawingml/2006/main">
          <a:graphicData uri="http://schemas.openxmlformats.org/drawingml/2006/chart">
            <c:chart xmlns:c="http://schemas.openxmlformats.org/drawingml/2006/chart" r:id="rId1"/>
          </a:graphicData>
        </a:graphic>
      </p:graphicFrame>
      <p:sp>
        <p:nvSpPr>
          <p:cNvPr id="5" name="nota al pie"/>
          <p:cNvSpPr txBox="1"/>
          <p:nvPr/>
        </p:nvSpPr>
        <p:spPr>
          <a:xfrm>
            <a:off x="548640" y="5897880"/>
            <a:ext cx="6583680" cy="320040"/>
          </a:xfrm>
          <a:prstGeom prst="rect">
            <a:avLst/>
          </a:prstGeom>
          <a:noFill/>
          <a:ln/>
        </p:spPr>
        <p:txBody>
          <a:bodyPr wrap="square" lIns="0" tIns="0" rIns="0" bIns="0" rtlCol="0" anchor="ctr"/>
          <a:lstStyle/>
          <a:p>
            <a:pPr indent="0" marL="0">
              <a:buNone/>
            </a:pPr>
            <a:r>
              <a:rPr lang="en-US" sz="1100" i="1" dirty="0">
                <a:solidFill>
                  <a:schemeClr val="bg2"/>
                </a:solidFill>
              </a:rPr>
              <a:t>DQN completo = Double + Dueling + PER. Media de 5 semillas (líneas base: 10 episodios).</a:t>
            </a:r>
            <a:endParaRPr lang="en-US" sz="1100" dirty="0"/>
          </a:p>
        </p:txBody>
      </p:sp>
      <p:sp>
        <p:nvSpPr>
          <p:cNvPr id="6" name="hallazgo 0"/>
          <p:cNvSpPr/>
          <p:nvPr/>
        </p:nvSpPr>
        <p:spPr>
          <a:xfrm>
            <a:off x="7315200" y="1417320"/>
            <a:ext cx="4325112" cy="1325880"/>
          </a:xfrm>
          <a:prstGeom prst="roundRect">
            <a:avLst>
              <a:gd name="adj" fmla="val 8276"/>
            </a:avLst>
          </a:prstGeom>
          <a:solidFill>
            <a:schemeClr val="tx2"/>
          </a:solidFill>
          <a:ln w="9525">
            <a:solidFill>
              <a:schemeClr val="accent6"/>
            </a:solidFill>
            <a:prstDash val="solid"/>
          </a:ln>
        </p:spPr>
      </p:sp>
      <p:sp>
        <p:nvSpPr>
          <p:cNvPr id="7" name="hallazgo titulo 0"/>
          <p:cNvSpPr txBox="1"/>
          <p:nvPr/>
        </p:nvSpPr>
        <p:spPr>
          <a:xfrm>
            <a:off x="7543800" y="1554480"/>
            <a:ext cx="3931920" cy="365760"/>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E2 · Planificar no ayudó</a:t>
            </a:r>
            <a:endParaRPr lang="en-US" sz="1700" dirty="0"/>
          </a:p>
        </p:txBody>
      </p:sp>
      <p:sp>
        <p:nvSpPr>
          <p:cNvPr id="8" name="hallazgo texto 0"/>
          <p:cNvSpPr txBox="1"/>
          <p:nvPr/>
        </p:nvSpPr>
        <p:spPr>
          <a:xfrm>
            <a:off x="7543800" y="1965960"/>
            <a:ext cx="3931920" cy="731520"/>
          </a:xfrm>
          <a:prstGeom prst="rect">
            <a:avLst/>
          </a:prstGeom>
          <a:noFill/>
          <a:ln/>
        </p:spPr>
        <p:txBody>
          <a:bodyPr wrap="square" lIns="0" tIns="0" rIns="0" bIns="0" rtlCol="0" anchor="t"/>
          <a:lstStyle/>
          <a:p>
            <a:pPr indent="0" marL="0">
              <a:spcAft>
                <a:spcPts val="600"/>
              </a:spcAft>
              <a:buNone/>
            </a:pPr>
            <a:r>
              <a:rPr lang="en-US" sz="1400" dirty="0">
                <a:solidFill>
                  <a:schemeClr val="bg2"/>
                </a:solidFill>
              </a:rPr>
              <a:t>Dyna-Q n=50: +8.2 s frente a Q-Learning (p = 0.16); ningún tabular alcanza al fijo.</a:t>
            </a:r>
            <a:endParaRPr lang="en-US" sz="1400" dirty="0"/>
          </a:p>
        </p:txBody>
      </p:sp>
      <p:sp>
        <p:nvSpPr>
          <p:cNvPr id="9" name="hallazgo 1"/>
          <p:cNvSpPr/>
          <p:nvPr/>
        </p:nvSpPr>
        <p:spPr>
          <a:xfrm>
            <a:off x="7315200" y="2898648"/>
            <a:ext cx="4325112" cy="1325880"/>
          </a:xfrm>
          <a:prstGeom prst="roundRect">
            <a:avLst>
              <a:gd name="adj" fmla="val 8276"/>
            </a:avLst>
          </a:prstGeom>
          <a:solidFill>
            <a:schemeClr val="tx2"/>
          </a:solidFill>
          <a:ln w="9525">
            <a:solidFill>
              <a:schemeClr val="accent6"/>
            </a:solidFill>
            <a:prstDash val="solid"/>
          </a:ln>
        </p:spPr>
      </p:sp>
      <p:sp>
        <p:nvSpPr>
          <p:cNvPr id="10" name="hallazgo titulo 1"/>
          <p:cNvSpPr txBox="1"/>
          <p:nvPr/>
        </p:nvSpPr>
        <p:spPr>
          <a:xfrm>
            <a:off x="7543800" y="3035808"/>
            <a:ext cx="3931920" cy="365760"/>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E3 · Variantes de DQN en el ruido</a:t>
            </a:r>
            <a:endParaRPr lang="en-US" sz="1700" dirty="0"/>
          </a:p>
        </p:txBody>
      </p:sp>
      <p:sp>
        <p:nvSpPr>
          <p:cNvPr id="11" name="hallazgo texto 1"/>
          <p:cNvSpPr txBox="1"/>
          <p:nvPr/>
        </p:nvSpPr>
        <p:spPr>
          <a:xfrm>
            <a:off x="7543800" y="3447288"/>
            <a:ext cx="3931920" cy="731520"/>
          </a:xfrm>
          <a:prstGeom prst="rect">
            <a:avLst/>
          </a:prstGeom>
          <a:noFill/>
          <a:ln/>
        </p:spPr>
        <p:txBody>
          <a:bodyPr wrap="square" lIns="0" tIns="0" rIns="0" bIns="0" rtlCol="0" anchor="t"/>
          <a:lstStyle/>
          <a:p>
            <a:pPr indent="0" marL="0">
              <a:spcAft>
                <a:spcPts val="600"/>
              </a:spcAft>
              <a:buNone/>
            </a:pPr>
            <a:r>
              <a:rPr lang="en-US" sz="1400" dirty="0">
                <a:solidFill>
                  <a:schemeClr val="bg2"/>
                </a:solidFill>
              </a:rPr>
              <a:t>Completo frente a base: −1.6 s (p = 0.23).</a:t>
            </a:r>
            <a:endParaRPr lang="en-US" sz="1400" dirty="0"/>
          </a:p>
        </p:txBody>
      </p:sp>
      <p:sp>
        <p:nvSpPr>
          <p:cNvPr id="12" name="hallazgo 2"/>
          <p:cNvSpPr/>
          <p:nvPr/>
        </p:nvSpPr>
        <p:spPr>
          <a:xfrm>
            <a:off x="7315200" y="4379976"/>
            <a:ext cx="4325112" cy="1325880"/>
          </a:xfrm>
          <a:prstGeom prst="roundRect">
            <a:avLst>
              <a:gd name="adj" fmla="val 8276"/>
            </a:avLst>
          </a:prstGeom>
          <a:solidFill>
            <a:schemeClr val="tx2"/>
          </a:solidFill>
          <a:ln w="9525">
            <a:solidFill>
              <a:schemeClr val="accent6"/>
            </a:solidFill>
            <a:prstDash val="solid"/>
          </a:ln>
        </p:spPr>
      </p:sp>
      <p:sp>
        <p:nvSpPr>
          <p:cNvPr id="13" name="hallazgo titulo 2"/>
          <p:cNvSpPr txBox="1"/>
          <p:nvPr/>
        </p:nvSpPr>
        <p:spPr>
          <a:xfrm>
            <a:off x="7543800" y="4517136"/>
            <a:ext cx="3931920" cy="365760"/>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E4 · DQN ≈ PPO</a:t>
            </a:r>
            <a:endParaRPr lang="en-US" sz="1700" dirty="0"/>
          </a:p>
        </p:txBody>
      </p:sp>
      <p:sp>
        <p:nvSpPr>
          <p:cNvPr id="14" name="hallazgo texto 2"/>
          <p:cNvSpPr txBox="1"/>
          <p:nvPr/>
        </p:nvSpPr>
        <p:spPr>
          <a:xfrm>
            <a:off x="7543800" y="4928616"/>
            <a:ext cx="3931920" cy="731520"/>
          </a:xfrm>
          <a:prstGeom prst="rect">
            <a:avLst/>
          </a:prstGeom>
          <a:noFill/>
          <a:ln/>
        </p:spPr>
        <p:txBody>
          <a:bodyPr wrap="square" lIns="0" tIns="0" rIns="0" bIns="0" rtlCol="0" anchor="t"/>
          <a:lstStyle/>
          <a:p>
            <a:pPr indent="0" marL="0">
              <a:spcAft>
                <a:spcPts val="600"/>
              </a:spcAft>
              <a:buNone/>
            </a:pPr>
            <a:r>
              <a:rPr lang="en-US" sz="1400" dirty="0">
                <a:solidFill>
                  <a:schemeClr val="bg2"/>
                </a:solidFill>
              </a:rPr>
              <a:t>PPO +2.8 s (p = 0.10); ambos sin diferencia detectable con max-pressure.</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000" b="1" dirty="0">
                <a:solidFill>
                  <a:schemeClr val="bg1"/>
                </a:solidFill>
                <a:latin typeface="Arial" pitchFamily="34" charset="0"/>
                <a:ea typeface="Arial" pitchFamily="34" charset="-122"/>
                <a:cs typeface="Arial" pitchFamily="34" charset="-120"/>
              </a:rPr>
              <a:t>E5–E6 · MAPPO mejora al fijo, no a max-pressure</a:t>
            </a:r>
            <a:endParaRPr lang="en-US" sz="3000" dirty="0"/>
          </a:p>
        </p:txBody>
      </p:sp>
      <p:sp>
        <p:nvSpPr>
          <p:cNvPr id="3" name="titulo grafica"/>
          <p:cNvSpPr txBox="1"/>
          <p:nvPr/>
        </p:nvSpPr>
        <p:spPr>
          <a:xfrm>
            <a:off x="548640" y="1371600"/>
            <a:ext cx="6400800" cy="365760"/>
          </a:xfrm>
          <a:prstGeom prst="rect">
            <a:avLst/>
          </a:prstGeom>
          <a:noFill/>
          <a:ln/>
        </p:spPr>
        <p:txBody>
          <a:bodyPr wrap="square" lIns="0" tIns="0" rIns="0" bIns="0" rtlCol="0" anchor="t"/>
          <a:lstStyle/>
          <a:p>
            <a:pPr indent="0" marL="0">
              <a:spcAft>
                <a:spcPts val="600"/>
              </a:spcAft>
              <a:buNone/>
            </a:pPr>
            <a:r>
              <a:rPr lang="en-US" sz="1600" b="1" dirty="0">
                <a:solidFill>
                  <a:schemeClr val="bg2"/>
                </a:solidFill>
              </a:rPr>
              <a:t>Corredor, hora pico · demora total (s/veh)</a:t>
            </a:r>
            <a:endParaRPr lang="en-US" sz="1600" dirty="0"/>
          </a:p>
        </p:txBody>
      </p:sp>
      <p:graphicFrame>
        <p:nvGraphicFramePr>
          <p:cNvPr id="4" name="Grafica E5-E6 corredor" descr=""/>
          <p:cNvGraphicFramePr/>
          <p:nvPr/>
        </p:nvGraphicFramePr>
        <p:xfrm>
          <a:off x="548640" y="1737360"/>
          <a:ext cx="6583680" cy="4114800"/>
        </p:xfrm>
        <a:graphic xmlns:a="http://schemas.openxmlformats.org/drawingml/2006/main">
          <a:graphicData uri="http://schemas.openxmlformats.org/drawingml/2006/chart">
            <c:chart xmlns:c="http://schemas.openxmlformats.org/drawingml/2006/chart" r:id="rId1"/>
          </a:graphicData>
        </a:graphic>
      </p:graphicFrame>
      <p:sp>
        <p:nvSpPr>
          <p:cNvPr id="5" name="nota al pie"/>
          <p:cNvSpPr txBox="1"/>
          <p:nvPr/>
        </p:nvSpPr>
        <p:spPr>
          <a:xfrm>
            <a:off x="548640" y="5897880"/>
            <a:ext cx="6583680" cy="320040"/>
          </a:xfrm>
          <a:prstGeom prst="rect">
            <a:avLst/>
          </a:prstGeom>
          <a:noFill/>
          <a:ln/>
        </p:spPr>
        <p:txBody>
          <a:bodyPr wrap="square" lIns="0" tIns="0" rIns="0" bIns="0" rtlCol="0" anchor="ctr"/>
          <a:lstStyle/>
          <a:p>
            <a:pPr indent="0" marL="0">
              <a:buNone/>
            </a:pPr>
            <a:r>
              <a:rPr lang="en-US" sz="1100" i="1" dirty="0">
                <a:solidFill>
                  <a:schemeClr val="bg2"/>
                </a:solidFill>
              </a:rPr>
              <a:t>Media ± IC95 entre 5 semillas de entrenamiento (líneas base: 10 episodios).</a:t>
            </a:r>
            <a:endParaRPr lang="en-US" sz="1100" dirty="0"/>
          </a:p>
        </p:txBody>
      </p:sp>
      <p:sp>
        <p:nvSpPr>
          <p:cNvPr id="6" name="tarjeta mappo"/>
          <p:cNvSpPr/>
          <p:nvPr/>
        </p:nvSpPr>
        <p:spPr>
          <a:xfrm>
            <a:off x="7406640" y="1417320"/>
            <a:ext cx="4233672" cy="1600200"/>
          </a:xfrm>
          <a:prstGeom prst="roundRect">
            <a:avLst>
              <a:gd name="adj" fmla="val 6857"/>
            </a:avLst>
          </a:prstGeom>
          <a:solidFill>
            <a:schemeClr val="tx2"/>
          </a:solidFill>
          <a:ln w="9525">
            <a:solidFill>
              <a:schemeClr val="accent6"/>
            </a:solidFill>
            <a:prstDash val="solid"/>
          </a:ln>
        </p:spPr>
      </p:sp>
      <p:sp>
        <p:nvSpPr>
          <p:cNvPr id="7" name="cifra mappo"/>
          <p:cNvSpPr txBox="1"/>
          <p:nvPr/>
        </p:nvSpPr>
        <p:spPr>
          <a:xfrm>
            <a:off x="7635240" y="1508760"/>
            <a:ext cx="3840480" cy="731520"/>
          </a:xfrm>
          <a:prstGeom prst="rect">
            <a:avLst/>
          </a:prstGeom>
          <a:noFill/>
          <a:ln/>
        </p:spPr>
        <p:txBody>
          <a:bodyPr wrap="square" lIns="0" tIns="0" rIns="0" bIns="0" rtlCol="0" anchor="ctr"/>
          <a:lstStyle/>
          <a:p>
            <a:pPr indent="0" marL="0">
              <a:buNone/>
            </a:pPr>
            <a:r>
              <a:rPr lang="en-US" sz="4000" b="1" dirty="0">
                <a:solidFill>
                  <a:schemeClr val="accent1"/>
                </a:solidFill>
              </a:rPr>
              <a:t>−41 %</a:t>
            </a:r>
            <a:endParaRPr lang="en-US" sz="4000" dirty="0"/>
          </a:p>
        </p:txBody>
      </p:sp>
      <p:sp>
        <p:nvSpPr>
          <p:cNvPr id="8" name="etiqueta mappo"/>
          <p:cNvSpPr txBox="1"/>
          <p:nvPr/>
        </p:nvSpPr>
        <p:spPr>
          <a:xfrm>
            <a:off x="7635240" y="2286000"/>
            <a:ext cx="3840480" cy="640080"/>
          </a:xfrm>
          <a:prstGeom prst="rect">
            <a:avLst/>
          </a:prstGeom>
          <a:noFill/>
          <a:ln/>
        </p:spPr>
        <p:txBody>
          <a:bodyPr wrap="square" lIns="0" tIns="0" rIns="0" bIns="0" rtlCol="0" anchor="t"/>
          <a:lstStyle/>
          <a:p>
            <a:pPr indent="0" marL="0">
              <a:spcAft>
                <a:spcPts val="600"/>
              </a:spcAft>
              <a:buNone/>
            </a:pPr>
            <a:r>
              <a:rPr lang="en-US" sz="1400" dirty="0">
                <a:solidFill>
                  <a:schemeClr val="bg2"/>
                </a:solidFill>
              </a:rPr>
              <a:t>MAPPO frente al tiempo fijo (p Holm &lt; 0.001)</a:t>
            </a:r>
            <a:endParaRPr lang="en-US" sz="1400" dirty="0"/>
          </a:p>
        </p:txBody>
      </p:sp>
      <p:sp>
        <p:nvSpPr>
          <p:cNvPr id="9" name="tarjeta mp"/>
          <p:cNvSpPr/>
          <p:nvPr/>
        </p:nvSpPr>
        <p:spPr>
          <a:xfrm>
            <a:off x="7406640" y="3154680"/>
            <a:ext cx="4233672" cy="1280160"/>
          </a:xfrm>
          <a:prstGeom prst="roundRect">
            <a:avLst>
              <a:gd name="adj" fmla="val 8571"/>
            </a:avLst>
          </a:prstGeom>
          <a:solidFill>
            <a:schemeClr val="tx2"/>
          </a:solidFill>
          <a:ln w="9525">
            <a:solidFill>
              <a:schemeClr val="accent6"/>
            </a:solidFill>
            <a:prstDash val="solid"/>
          </a:ln>
        </p:spPr>
      </p:sp>
      <p:sp>
        <p:nvSpPr>
          <p:cNvPr id="10" name="cifra mp"/>
          <p:cNvSpPr txBox="1"/>
          <p:nvPr/>
        </p:nvSpPr>
        <p:spPr>
          <a:xfrm>
            <a:off x="7635240" y="3291840"/>
            <a:ext cx="3840480" cy="411480"/>
          </a:xfrm>
          <a:prstGeom prst="rect">
            <a:avLst/>
          </a:prstGeom>
          <a:noFill/>
          <a:ln/>
        </p:spPr>
        <p:txBody>
          <a:bodyPr wrap="square" lIns="0" tIns="0" rIns="0" bIns="0" rtlCol="0" anchor="t"/>
          <a:lstStyle/>
          <a:p>
            <a:pPr indent="0" marL="0">
              <a:spcAft>
                <a:spcPts val="600"/>
              </a:spcAft>
              <a:buNone/>
            </a:pPr>
            <a:r>
              <a:rPr lang="en-US" sz="1800" b="1" dirty="0">
                <a:solidFill>
                  <a:schemeClr val="accent4"/>
                </a:solidFill>
              </a:rPr>
              <a:t>+5.1 s frente a max-pressure</a:t>
            </a:r>
            <a:endParaRPr lang="en-US" sz="1800" dirty="0"/>
          </a:p>
        </p:txBody>
      </p:sp>
      <p:sp>
        <p:nvSpPr>
          <p:cNvPr id="11" name="etiqueta mp"/>
          <p:cNvSpPr txBox="1"/>
          <p:nvPr/>
        </p:nvSpPr>
        <p:spPr>
          <a:xfrm>
            <a:off x="7635240" y="3749040"/>
            <a:ext cx="3840480" cy="548640"/>
          </a:xfrm>
          <a:prstGeom prst="rect">
            <a:avLst/>
          </a:prstGeom>
          <a:noFill/>
          <a:ln/>
        </p:spPr>
        <p:txBody>
          <a:bodyPr wrap="square" lIns="0" tIns="0" rIns="0" bIns="0" rtlCol="0" anchor="t"/>
          <a:lstStyle/>
          <a:p>
            <a:pPr indent="0" marL="0">
              <a:spcAft>
                <a:spcPts val="600"/>
              </a:spcAft>
              <a:buNone/>
            </a:pPr>
            <a:r>
              <a:rPr lang="en-US" sz="1400" dirty="0">
                <a:solidFill>
                  <a:schemeClr val="bg2"/>
                </a:solidFill>
              </a:rPr>
              <a:t>p = 0.13: sin diferencia detectable</a:t>
            </a:r>
            <a:endParaRPr lang="en-US" sz="1400" dirty="0"/>
          </a:p>
        </p:txBody>
      </p:sp>
      <p:sp>
        <p:nvSpPr>
          <p:cNvPr id="12" name="tarjeta ola"/>
          <p:cNvSpPr/>
          <p:nvPr/>
        </p:nvSpPr>
        <p:spPr>
          <a:xfrm>
            <a:off x="7406640" y="4572000"/>
            <a:ext cx="4233672" cy="1280160"/>
          </a:xfrm>
          <a:prstGeom prst="roundRect">
            <a:avLst>
              <a:gd name="adj" fmla="val 8571"/>
            </a:avLst>
          </a:prstGeom>
          <a:solidFill>
            <a:schemeClr val="tx2"/>
          </a:solidFill>
          <a:ln w="9525">
            <a:solidFill>
              <a:schemeClr val="accent6"/>
            </a:solidFill>
            <a:prstDash val="solid"/>
          </a:ln>
        </p:spPr>
      </p:sp>
      <p:sp>
        <p:nvSpPr>
          <p:cNvPr id="13" name="cifra ola"/>
          <p:cNvSpPr txBox="1"/>
          <p:nvPr/>
        </p:nvSpPr>
        <p:spPr>
          <a:xfrm>
            <a:off x="7635240" y="4709160"/>
            <a:ext cx="3840480" cy="41148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Sin ola verde</a:t>
            </a:r>
            <a:endParaRPr lang="en-US" sz="1800" dirty="0"/>
          </a:p>
        </p:txBody>
      </p:sp>
      <p:sp>
        <p:nvSpPr>
          <p:cNvPr id="14" name="etiqueta ola"/>
          <p:cNvSpPr txBox="1"/>
          <p:nvPr/>
        </p:nvSpPr>
        <p:spPr>
          <a:xfrm>
            <a:off x="7635240" y="5166360"/>
            <a:ext cx="3840480" cy="594360"/>
          </a:xfrm>
          <a:prstGeom prst="rect">
            <a:avLst/>
          </a:prstGeom>
          <a:noFill/>
          <a:ln/>
        </p:spPr>
        <p:txBody>
          <a:bodyPr wrap="square" lIns="0" tIns="0" rIns="0" bIns="0" rtlCol="0" anchor="t"/>
          <a:lstStyle/>
          <a:p>
            <a:pPr indent="0" marL="0">
              <a:spcAft>
                <a:spcPts val="600"/>
              </a:spcAft>
              <a:buNone/>
            </a:pPr>
            <a:r>
              <a:rPr lang="en-US" sz="1400" dirty="0">
                <a:solidFill>
                  <a:schemeClr val="bg2"/>
                </a:solidFill>
              </a:rPr>
              <a:t>Comunicación: 4.1 paradas/veh; líneas base: 2.7–3.9</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000" b="1" dirty="0">
                <a:solidFill>
                  <a:schemeClr val="bg1"/>
                </a:solidFill>
                <a:latin typeface="Arial" pitchFamily="34" charset="0"/>
                <a:ea typeface="Arial" pitchFamily="34" charset="-122"/>
                <a:cs typeface="Arial" pitchFamily="34" charset="-120"/>
              </a:rPr>
              <a:t>E7 · La ventaja se pierde con +30 % de demanda</a:t>
            </a:r>
            <a:endParaRPr lang="en-US" sz="3000" dirty="0"/>
          </a:p>
        </p:txBody>
      </p:sp>
      <p:graphicFrame>
        <p:nvGraphicFramePr>
          <p:cNvPr id="13" name="tabla E7"/>
          <p:cNvGraphicFramePr>
            <a:graphicFrameLocks noGrp="1"/>
          </p:cNvGraphicFramePr>
          <p:nvPr>
            <p:extLst>
              <p:ext uri="{D42A27DB-BD31-4B8C-83A1-F6EECF244321}">
                <p14:modId xmlns:p14="http://schemas.microsoft.com/office/powerpoint/2010/main" val="1579011935"/>
              </p:ext>
            </p:extLst>
          </p:nvPr>
        </p:nvGraphicFramePr>
        <p:xfrm>
          <a:off x="548640" y="1463040"/>
          <a:ext cx="7040880" cy="914400"/>
        </p:xfrm>
        <a:graphic>
          <a:graphicData uri="http://schemas.openxmlformats.org/drawingml/2006/table">
            <a:tbl>
              <a:tblPr/>
              <a:tblGrid>
                <a:gridCol w="2103120"/>
                <a:gridCol w="1234440"/>
                <a:gridCol w="1234440"/>
                <a:gridCol w="1234440"/>
                <a:gridCol w="1234440"/>
              </a:tblGrid>
              <a:tr h="566928">
                <a:tc>
                  <a:txBody>
                    <a:bodyPr/>
                    <a:lstStyle/>
                    <a:p>
                      <a:pPr algn="ctr" indent="0" marL="0">
                        <a:buNone/>
                      </a:pPr>
                      <a:r>
                        <a:rPr lang="en-US" sz="1700" b="1" dirty="0">
                          <a:solidFill>
                            <a:srgbClr val="F2F4F8"/>
                          </a:solidFill>
                          <a:latin typeface="Arial" pitchFamily="34" charset="0"/>
                          <a:ea typeface="Arial" pitchFamily="34" charset="-122"/>
                          <a:cs typeface="Arial" pitchFamily="34" charset="-120"/>
                        </a:rPr>
                        <a:t>Corredor · s/veh</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171D29"/>
                    </a:solidFill>
                  </a:tcPr>
                </a:tc>
                <a:tc>
                  <a:txBody>
                    <a:bodyPr/>
                    <a:lstStyle/>
                    <a:p>
                      <a:pPr algn="ctr" indent="0" marL="0">
                        <a:buNone/>
                      </a:pPr>
                      <a:r>
                        <a:rPr lang="en-US" sz="1700" b="1" dirty="0">
                          <a:solidFill>
                            <a:srgbClr val="F2F4F8"/>
                          </a:solidFill>
                          <a:latin typeface="Arial" pitchFamily="34" charset="0"/>
                          <a:ea typeface="Arial" pitchFamily="34" charset="-122"/>
                          <a:cs typeface="Arial" pitchFamily="34" charset="-120"/>
                        </a:rPr>
                        <a:t>Pico</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171D29"/>
                    </a:solidFill>
                  </a:tcPr>
                </a:tc>
                <a:tc>
                  <a:txBody>
                    <a:bodyPr/>
                    <a:lstStyle/>
                    <a:p>
                      <a:pPr algn="ctr" indent="0" marL="0">
                        <a:buNone/>
                      </a:pPr>
                      <a:r>
                        <a:rPr lang="en-US" sz="1700" b="1" dirty="0">
                          <a:solidFill>
                            <a:srgbClr val="F2F4F8"/>
                          </a:solidFill>
                          <a:latin typeface="Arial" pitchFamily="34" charset="0"/>
                          <a:ea typeface="Arial" pitchFamily="34" charset="-122"/>
                          <a:cs typeface="Arial" pitchFamily="34" charset="-120"/>
                        </a:rPr>
                        <a:t>Mediodía</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171D29"/>
                    </a:solidFill>
                  </a:tcPr>
                </a:tc>
                <a:tc>
                  <a:txBody>
                    <a:bodyPr/>
                    <a:lstStyle/>
                    <a:p>
                      <a:pPr algn="ctr" indent="0" marL="0">
                        <a:buNone/>
                      </a:pPr>
                      <a:r>
                        <a:rPr lang="en-US" sz="1700" b="1" dirty="0">
                          <a:solidFill>
                            <a:srgbClr val="F2F4F8"/>
                          </a:solidFill>
                          <a:latin typeface="Arial" pitchFamily="34" charset="0"/>
                          <a:ea typeface="Arial" pitchFamily="34" charset="-122"/>
                          <a:cs typeface="Arial" pitchFamily="34" charset="-120"/>
                        </a:rPr>
                        <a:t>+30 %</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171D29"/>
                    </a:solidFill>
                  </a:tcPr>
                </a:tc>
                <a:tc>
                  <a:txBody>
                    <a:bodyPr/>
                    <a:lstStyle/>
                    <a:p>
                      <a:pPr algn="ctr" indent="0" marL="0">
                        <a:buNone/>
                      </a:pPr>
                      <a:r>
                        <a:rPr lang="en-US" sz="1700" b="1" dirty="0">
                          <a:solidFill>
                            <a:srgbClr val="F2F4F8"/>
                          </a:solidFill>
                          <a:latin typeface="Arial" pitchFamily="34" charset="0"/>
                          <a:ea typeface="Arial" pitchFamily="34" charset="-122"/>
                          <a:cs typeface="Arial" pitchFamily="34" charset="-120"/>
                        </a:rPr>
                        <a:t>Incidente</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171D29"/>
                    </a:solidFill>
                  </a:tcPr>
                </a:tc>
              </a:tr>
              <a:tr h="566928">
                <a:tc>
                  <a:txBody>
                    <a:bodyPr/>
                    <a:lstStyle/>
                    <a:p>
                      <a:pPr algn="l" indent="0" marL="0">
                        <a:buNone/>
                      </a:pPr>
                      <a:r>
                        <a:rPr lang="en-US" sz="1700" b="1" dirty="0">
                          <a:solidFill>
                            <a:srgbClr val="FF9F43"/>
                          </a:solidFill>
                          <a:latin typeface="Arial" pitchFamily="34" charset="0"/>
                          <a:ea typeface="Arial" pitchFamily="34" charset="-122"/>
                          <a:cs typeface="Arial" pitchFamily="34" charset="-120"/>
                        </a:rPr>
                        <a:t>Tiempo fijo</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700" dirty="0">
                          <a:solidFill>
                            <a:srgbClr val="F2F4F8"/>
                          </a:solidFill>
                          <a:latin typeface="Arial" pitchFamily="34" charset="0"/>
                          <a:ea typeface="Arial" pitchFamily="34" charset="-122"/>
                          <a:cs typeface="Arial" pitchFamily="34" charset="-120"/>
                        </a:rPr>
                        <a:t>79.1</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700" dirty="0">
                          <a:solidFill>
                            <a:srgbClr val="F2F4F8"/>
                          </a:solidFill>
                          <a:latin typeface="Arial" pitchFamily="34" charset="0"/>
                          <a:ea typeface="Arial" pitchFamily="34" charset="-122"/>
                          <a:cs typeface="Arial" pitchFamily="34" charset="-120"/>
                        </a:rPr>
                        <a:t>30.4</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700" dirty="0">
                          <a:solidFill>
                            <a:srgbClr val="F2F4F8"/>
                          </a:solidFill>
                          <a:latin typeface="Arial" pitchFamily="34" charset="0"/>
                          <a:ea typeface="Arial" pitchFamily="34" charset="-122"/>
                          <a:cs typeface="Arial" pitchFamily="34" charset="-120"/>
                        </a:rPr>
                        <a:t>345.7</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700" dirty="0">
                          <a:solidFill>
                            <a:srgbClr val="F2F4F8"/>
                          </a:solidFill>
                          <a:latin typeface="Arial" pitchFamily="34" charset="0"/>
                          <a:ea typeface="Arial" pitchFamily="34" charset="-122"/>
                          <a:cs typeface="Arial" pitchFamily="34" charset="-120"/>
                        </a:rPr>
                        <a:t>198.4</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r>
              <a:tr h="566928">
                <a:tc>
                  <a:txBody>
                    <a:bodyPr/>
                    <a:lstStyle/>
                    <a:p>
                      <a:pPr algn="l" indent="0" marL="0">
                        <a:buNone/>
                      </a:pPr>
                      <a:r>
                        <a:rPr lang="en-US" sz="1700" b="1" dirty="0">
                          <a:solidFill>
                            <a:srgbClr val="A3ADBD"/>
                          </a:solidFill>
                          <a:latin typeface="Arial" pitchFamily="34" charset="0"/>
                          <a:ea typeface="Arial" pitchFamily="34" charset="-122"/>
                          <a:cs typeface="Arial" pitchFamily="34" charset="-120"/>
                        </a:rPr>
                        <a:t>Actuado</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700" dirty="0">
                          <a:solidFill>
                            <a:srgbClr val="F2F4F8"/>
                          </a:solidFill>
                          <a:latin typeface="Arial" pitchFamily="34" charset="0"/>
                          <a:ea typeface="Arial" pitchFamily="34" charset="-122"/>
                          <a:cs typeface="Arial" pitchFamily="34" charset="-120"/>
                        </a:rPr>
                        <a:t>63.4</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700" dirty="0">
                          <a:solidFill>
                            <a:srgbClr val="F2F4F8"/>
                          </a:solidFill>
                          <a:latin typeface="Arial" pitchFamily="34" charset="0"/>
                          <a:ea typeface="Arial" pitchFamily="34" charset="-122"/>
                          <a:cs typeface="Arial" pitchFamily="34" charset="-120"/>
                        </a:rPr>
                        <a:t>18.7</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700" dirty="0">
                          <a:solidFill>
                            <a:srgbClr val="F2F4F8"/>
                          </a:solidFill>
                          <a:latin typeface="Arial" pitchFamily="34" charset="0"/>
                          <a:ea typeface="Arial" pitchFamily="34" charset="-122"/>
                          <a:cs typeface="Arial" pitchFamily="34" charset="-120"/>
                        </a:rPr>
                        <a:t>320.4</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700" dirty="0">
                          <a:solidFill>
                            <a:srgbClr val="F2F4F8"/>
                          </a:solidFill>
                          <a:latin typeface="Arial" pitchFamily="34" charset="0"/>
                          <a:ea typeface="Arial" pitchFamily="34" charset="-122"/>
                          <a:cs typeface="Arial" pitchFamily="34" charset="-120"/>
                        </a:rPr>
                        <a:t>180.5</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r>
              <a:tr h="566928">
                <a:tc>
                  <a:txBody>
                    <a:bodyPr/>
                    <a:lstStyle/>
                    <a:p>
                      <a:pPr algn="l" indent="0" marL="0">
                        <a:buNone/>
                      </a:pPr>
                      <a:r>
                        <a:rPr lang="en-US" sz="1700" b="1" dirty="0">
                          <a:solidFill>
                            <a:srgbClr val="C9CED6"/>
                          </a:solidFill>
                          <a:latin typeface="Arial" pitchFamily="34" charset="0"/>
                          <a:ea typeface="Arial" pitchFamily="34" charset="-122"/>
                          <a:cs typeface="Arial" pitchFamily="34" charset="-120"/>
                        </a:rPr>
                        <a:t>Max-pressure</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700" dirty="0">
                          <a:solidFill>
                            <a:srgbClr val="F2F4F8"/>
                          </a:solidFill>
                          <a:latin typeface="Arial" pitchFamily="34" charset="0"/>
                          <a:ea typeface="Arial" pitchFamily="34" charset="-122"/>
                          <a:cs typeface="Arial" pitchFamily="34" charset="-120"/>
                        </a:rPr>
                        <a:t>41.7</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700" dirty="0">
                          <a:solidFill>
                            <a:srgbClr val="F2F4F8"/>
                          </a:solidFill>
                          <a:latin typeface="Arial" pitchFamily="34" charset="0"/>
                          <a:ea typeface="Arial" pitchFamily="34" charset="-122"/>
                          <a:cs typeface="Arial" pitchFamily="34" charset="-120"/>
                        </a:rPr>
                        <a:t>21.1</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700" b="1" dirty="0">
                          <a:solidFill>
                            <a:srgbClr val="2EE6A6"/>
                          </a:solidFill>
                          <a:latin typeface="Arial" pitchFamily="34" charset="0"/>
                          <a:ea typeface="Arial" pitchFamily="34" charset="-122"/>
                          <a:cs typeface="Arial" pitchFamily="34" charset="-120"/>
                        </a:rPr>
                        <a:t>252.2</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700" b="1" dirty="0">
                          <a:solidFill>
                            <a:srgbClr val="2EE6A6"/>
                          </a:solidFill>
                          <a:latin typeface="Arial" pitchFamily="34" charset="0"/>
                          <a:ea typeface="Arial" pitchFamily="34" charset="-122"/>
                          <a:cs typeface="Arial" pitchFamily="34" charset="-120"/>
                        </a:rPr>
                        <a:t>161.8</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r>
              <a:tr h="566928">
                <a:tc>
                  <a:txBody>
                    <a:bodyPr/>
                    <a:lstStyle/>
                    <a:p>
                      <a:pPr algn="l" indent="0" marL="0">
                        <a:buNone/>
                      </a:pPr>
                      <a:r>
                        <a:rPr lang="en-US" sz="1700" b="1" dirty="0">
                          <a:solidFill>
                            <a:srgbClr val="2EE6A6"/>
                          </a:solidFill>
                          <a:latin typeface="Arial" pitchFamily="34" charset="0"/>
                          <a:ea typeface="Arial" pitchFamily="34" charset="-122"/>
                          <a:cs typeface="Arial" pitchFamily="34" charset="-120"/>
                        </a:rPr>
                        <a:t>MAPPO</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700" b="1" dirty="0">
                          <a:solidFill>
                            <a:srgbClr val="2EE6A6"/>
                          </a:solidFill>
                          <a:latin typeface="Arial" pitchFamily="34" charset="0"/>
                          <a:ea typeface="Arial" pitchFamily="34" charset="-122"/>
                          <a:cs typeface="Arial" pitchFamily="34" charset="-120"/>
                        </a:rPr>
                        <a:t>36.8</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700" b="1" dirty="0">
                          <a:solidFill>
                            <a:srgbClr val="2EE6A6"/>
                          </a:solidFill>
                          <a:latin typeface="Arial" pitchFamily="34" charset="0"/>
                          <a:ea typeface="Arial" pitchFamily="34" charset="-122"/>
                          <a:cs typeface="Arial" pitchFamily="34" charset="-120"/>
                        </a:rPr>
                        <a:t>17.2</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700" b="1" dirty="0">
                          <a:solidFill>
                            <a:srgbClr val="FF6B6B"/>
                          </a:solidFill>
                          <a:latin typeface="Arial" pitchFamily="34" charset="0"/>
                          <a:ea typeface="Arial" pitchFamily="34" charset="-122"/>
                          <a:cs typeface="Arial" pitchFamily="34" charset="-120"/>
                        </a:rPr>
                        <a:t>373.3</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3A1E24"/>
                    </a:solidFill>
                  </a:tcPr>
                </a:tc>
                <a:tc>
                  <a:txBody>
                    <a:bodyPr/>
                    <a:lstStyle/>
                    <a:p>
                      <a:pPr algn="ctr" indent="0" marL="0">
                        <a:buNone/>
                      </a:pPr>
                      <a:r>
                        <a:rPr lang="en-US" sz="1700" dirty="0">
                          <a:solidFill>
                            <a:srgbClr val="F2F4F8"/>
                          </a:solidFill>
                          <a:latin typeface="Arial" pitchFamily="34" charset="0"/>
                          <a:ea typeface="Arial" pitchFamily="34" charset="-122"/>
                          <a:cs typeface="Arial" pitchFamily="34" charset="-120"/>
                        </a:rPr>
                        <a:t>165.5</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r>
              <a:tr h="566928">
                <a:tc>
                  <a:txBody>
                    <a:bodyPr/>
                    <a:lstStyle/>
                    <a:p>
                      <a:pPr algn="l" indent="0" marL="0">
                        <a:buNone/>
                      </a:pPr>
                      <a:r>
                        <a:rPr lang="en-US" sz="1700" b="1" dirty="0">
                          <a:solidFill>
                            <a:srgbClr val="2EE6A6"/>
                          </a:solidFill>
                          <a:latin typeface="Arial" pitchFamily="34" charset="0"/>
                          <a:ea typeface="Arial" pitchFamily="34" charset="-122"/>
                          <a:cs typeface="Arial" pitchFamily="34" charset="-120"/>
                        </a:rPr>
                        <a:t>Comunicación</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700" b="1" dirty="0">
                          <a:solidFill>
                            <a:srgbClr val="2EE6A6"/>
                          </a:solidFill>
                          <a:latin typeface="Arial" pitchFamily="34" charset="0"/>
                          <a:ea typeface="Arial" pitchFamily="34" charset="-122"/>
                          <a:cs typeface="Arial" pitchFamily="34" charset="-120"/>
                        </a:rPr>
                        <a:t>36.8</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700" dirty="0">
                          <a:solidFill>
                            <a:srgbClr val="F2F4F8"/>
                          </a:solidFill>
                          <a:latin typeface="Arial" pitchFamily="34" charset="0"/>
                          <a:ea typeface="Arial" pitchFamily="34" charset="-122"/>
                          <a:cs typeface="Arial" pitchFamily="34" charset="-120"/>
                        </a:rPr>
                        <a:t>20.7</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700" dirty="0">
                          <a:solidFill>
                            <a:srgbClr val="F2F4F8"/>
                          </a:solidFill>
                          <a:latin typeface="Arial" pitchFamily="34" charset="0"/>
                          <a:ea typeface="Arial" pitchFamily="34" charset="-122"/>
                          <a:cs typeface="Arial" pitchFamily="34" charset="-120"/>
                        </a:rPr>
                        <a:t>281.8</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c>
                  <a:txBody>
                    <a:bodyPr/>
                    <a:lstStyle/>
                    <a:p>
                      <a:pPr algn="ctr" indent="0" marL="0">
                        <a:buNone/>
                      </a:pPr>
                      <a:r>
                        <a:rPr lang="en-US" sz="1700" dirty="0">
                          <a:solidFill>
                            <a:srgbClr val="F2F4F8"/>
                          </a:solidFill>
                          <a:latin typeface="Arial" pitchFamily="34" charset="0"/>
                          <a:ea typeface="Arial" pitchFamily="34" charset="-122"/>
                          <a:cs typeface="Arial" pitchFamily="34" charset="-120"/>
                        </a:rPr>
                        <a:t>175.2</a:t>
                      </a:r>
                      <a:endParaRPr lang="en-US" sz="1700" dirty="0">
                        <a:latin typeface="Arial" charset="0"/>
                        <a:ea typeface="Arial" charset="0"/>
                        <a:cs typeface="Arial" charset="0"/>
                      </a:endParaRPr>
                    </a:p>
                  </a:txBody>
                  <a:tcPr marL="91440" marR="91440" marT="45720" marB="45720" anchor="ctr">
                    <a:lnL w="9525" cap="flat" cmpd="sng" algn="ctr">
                      <a:solidFill>
                        <a:srgbClr val="2A3344"/>
                      </a:solidFill>
                      <a:prstDash val="solid"/>
                      <a:round/>
                      <a:headEnd type="none" w="med" len="med"/>
                      <a:tailEnd type="none" w="med" len="med"/>
                    </a:lnL>
                    <a:lnR w="9525" cap="flat" cmpd="sng" algn="ctr">
                      <a:solidFill>
                        <a:srgbClr val="2A3344"/>
                      </a:solidFill>
                      <a:prstDash val="solid"/>
                      <a:round/>
                      <a:headEnd type="none" w="med" len="med"/>
                      <a:tailEnd type="none" w="med" len="med"/>
                    </a:lnR>
                    <a:lnT w="9525" cap="flat" cmpd="sng" algn="ctr">
                      <a:solidFill>
                        <a:srgbClr val="2A3344"/>
                      </a:solidFill>
                      <a:prstDash val="solid"/>
                      <a:round/>
                      <a:headEnd type="none" w="med" len="med"/>
                      <a:tailEnd type="none" w="med" len="med"/>
                    </a:lnT>
                    <a:lnB w="9525" cap="flat" cmpd="sng" algn="ctr">
                      <a:solidFill>
                        <a:srgbClr val="2A3344"/>
                      </a:solidFill>
                      <a:prstDash val="solid"/>
                      <a:round/>
                      <a:headEnd type="none" w="med" len="med"/>
                      <a:tailEnd type="none" w="med" len="med"/>
                    </a:lnB>
                    <a:solidFill>
                      <a:srgbClr val="0B0E14"/>
                    </a:solidFill>
                  </a:tcPr>
                </a:tc>
              </a:tr>
            </a:tbl>
          </a:graphicData>
        </a:graphic>
      </p:graphicFrame>
      <p:sp>
        <p:nvSpPr>
          <p:cNvPr id="4" name="nota al pie"/>
          <p:cNvSpPr txBox="1"/>
          <p:nvPr/>
        </p:nvSpPr>
        <p:spPr>
          <a:xfrm>
            <a:off x="548640" y="5074920"/>
            <a:ext cx="7040880" cy="320040"/>
          </a:xfrm>
          <a:prstGeom prst="rect">
            <a:avLst/>
          </a:prstGeom>
          <a:noFill/>
          <a:ln/>
        </p:spPr>
        <p:txBody>
          <a:bodyPr wrap="square" lIns="0" tIns="0" rIns="0" bIns="0" rtlCol="0" anchor="ctr"/>
          <a:lstStyle/>
          <a:p>
            <a:pPr indent="0" marL="0">
              <a:buNone/>
            </a:pPr>
            <a:r>
              <a:rPr lang="en-US" sz="1100" i="1" dirty="0">
                <a:solidFill>
                  <a:schemeClr val="bg2"/>
                </a:solidFill>
              </a:rPr>
              <a:t>Demora total media de 10 episodios. Agentes: una semilla por familia, elegida por validación (favorece a los agentes).</a:t>
            </a:r>
            <a:endParaRPr lang="en-US" sz="1100" dirty="0"/>
          </a:p>
        </p:txBody>
      </p:sp>
      <p:sp>
        <p:nvSpPr>
          <p:cNvPr id="5" name="nota al pie"/>
          <p:cNvSpPr txBox="1"/>
          <p:nvPr/>
        </p:nvSpPr>
        <p:spPr>
          <a:xfrm>
            <a:off x="548640" y="5532120"/>
            <a:ext cx="7040880" cy="320040"/>
          </a:xfrm>
          <a:prstGeom prst="rect">
            <a:avLst/>
          </a:prstGeom>
          <a:noFill/>
          <a:ln/>
        </p:spPr>
        <p:txBody>
          <a:bodyPr wrap="square" lIns="0" tIns="0" rIns="0" bIns="0" rtlCol="0" anchor="ctr"/>
          <a:lstStyle/>
          <a:p>
            <a:pPr indent="0" marL="0">
              <a:buNone/>
            </a:pPr>
            <a:r>
              <a:rPr lang="en-US" sz="1100" i="1" dirty="0">
                <a:solidFill>
                  <a:schemeClr val="bg2"/>
                </a:solidFill>
              </a:rPr>
              <a:t>Cruce C12 con incidente (2 de 3 carriles de la aproximación sur cerrados): max-pressure 158, DQN 190, PPO 192, actuado 201, fijo 228 s/veh.</a:t>
            </a:r>
            <a:endParaRPr lang="en-US" sz="1100" dirty="0"/>
          </a:p>
        </p:txBody>
      </p:sp>
      <p:sp>
        <p:nvSpPr>
          <p:cNvPr id="6" name="tarjeta x13"/>
          <p:cNvSpPr/>
          <p:nvPr/>
        </p:nvSpPr>
        <p:spPr>
          <a:xfrm>
            <a:off x="7955280" y="1463040"/>
            <a:ext cx="3685032" cy="2011680"/>
          </a:xfrm>
          <a:prstGeom prst="roundRect">
            <a:avLst>
              <a:gd name="adj" fmla="val 5455"/>
            </a:avLst>
          </a:prstGeom>
          <a:solidFill>
            <a:schemeClr val="tx2"/>
          </a:solidFill>
          <a:ln w="9525">
            <a:solidFill>
              <a:schemeClr val="accent6"/>
            </a:solidFill>
            <a:prstDash val="solid"/>
          </a:ln>
        </p:spPr>
      </p:sp>
      <p:sp>
        <p:nvSpPr>
          <p:cNvPr id="7" name="cifra x13"/>
          <p:cNvSpPr txBox="1"/>
          <p:nvPr/>
        </p:nvSpPr>
        <p:spPr>
          <a:xfrm>
            <a:off x="8183880" y="1554480"/>
            <a:ext cx="3291840" cy="731520"/>
          </a:xfrm>
          <a:prstGeom prst="rect">
            <a:avLst/>
          </a:prstGeom>
          <a:noFill/>
          <a:ln/>
        </p:spPr>
        <p:txBody>
          <a:bodyPr wrap="square" lIns="0" tIns="0" rIns="0" bIns="0" rtlCol="0" anchor="ctr"/>
          <a:lstStyle/>
          <a:p>
            <a:pPr indent="0" marL="0">
              <a:buNone/>
            </a:pPr>
            <a:r>
              <a:rPr lang="en-US" sz="4000" b="1" dirty="0">
                <a:solidFill>
                  <a:schemeClr val="accent5"/>
                </a:solidFill>
              </a:rPr>
              <a:t>+48 %</a:t>
            </a:r>
            <a:endParaRPr lang="en-US" sz="4000" dirty="0"/>
          </a:p>
        </p:txBody>
      </p:sp>
      <p:sp>
        <p:nvSpPr>
          <p:cNvPr id="8" name="etiqueta x13"/>
          <p:cNvSpPr txBox="1"/>
          <p:nvPr/>
        </p:nvSpPr>
        <p:spPr>
          <a:xfrm>
            <a:off x="8183880" y="2331720"/>
            <a:ext cx="3291840" cy="1005840"/>
          </a:xfrm>
          <a:prstGeom prst="rect">
            <a:avLst/>
          </a:prstGeom>
          <a:noFill/>
          <a:ln/>
        </p:spPr>
        <p:txBody>
          <a:bodyPr wrap="square" lIns="0" tIns="0" rIns="0" bIns="0" rtlCol="0" anchor="t"/>
          <a:lstStyle/>
          <a:p>
            <a:pPr indent="0" marL="0">
              <a:spcAft>
                <a:spcPts val="600"/>
              </a:spcAft>
              <a:buNone/>
            </a:pPr>
            <a:r>
              <a:rPr lang="en-US" sz="1400" dirty="0">
                <a:solidFill>
                  <a:schemeClr val="bg2"/>
                </a:solidFill>
              </a:rPr>
              <a:t>MAPPO frente a max-pressure con +30 % de demanda (y +8 % frente al fijo)</a:t>
            </a:r>
            <a:endParaRPr lang="en-US" sz="1400" dirty="0"/>
          </a:p>
        </p:txBody>
      </p:sp>
      <p:sp>
        <p:nvSpPr>
          <p:cNvPr id="9" name="tarjeta degradacion"/>
          <p:cNvSpPr/>
          <p:nvPr/>
        </p:nvSpPr>
        <p:spPr>
          <a:xfrm>
            <a:off x="7955280" y="3657600"/>
            <a:ext cx="3685032" cy="2011680"/>
          </a:xfrm>
          <a:prstGeom prst="roundRect">
            <a:avLst>
              <a:gd name="adj" fmla="val 5455"/>
            </a:avLst>
          </a:prstGeom>
          <a:solidFill>
            <a:schemeClr val="tx2"/>
          </a:solidFill>
          <a:ln w="9525">
            <a:solidFill>
              <a:schemeClr val="accent6"/>
            </a:solidFill>
            <a:prstDash val="solid"/>
          </a:ln>
        </p:spPr>
      </p:sp>
      <p:sp>
        <p:nvSpPr>
          <p:cNvPr id="10" name="cifra degradacion"/>
          <p:cNvSpPr txBox="1"/>
          <p:nvPr/>
        </p:nvSpPr>
        <p:spPr>
          <a:xfrm>
            <a:off x="8183880" y="3749040"/>
            <a:ext cx="3291840" cy="731520"/>
          </a:xfrm>
          <a:prstGeom prst="rect">
            <a:avLst/>
          </a:prstGeom>
          <a:noFill/>
          <a:ln/>
        </p:spPr>
        <p:txBody>
          <a:bodyPr wrap="square" lIns="0" tIns="0" rIns="0" bIns="0" rtlCol="0" anchor="ctr"/>
          <a:lstStyle/>
          <a:p>
            <a:pPr indent="0" marL="0">
              <a:buNone/>
            </a:pPr>
            <a:r>
              <a:rPr lang="en-US" sz="3000" b="1" dirty="0">
                <a:solidFill>
                  <a:schemeClr val="accent2"/>
                </a:solidFill>
              </a:rPr>
              <a:t>×10.1 vs ×6.0</a:t>
            </a:r>
            <a:endParaRPr lang="en-US" sz="3000" dirty="0"/>
          </a:p>
        </p:txBody>
      </p:sp>
      <p:sp>
        <p:nvSpPr>
          <p:cNvPr id="11" name="etiqueta degradacion"/>
          <p:cNvSpPr txBox="1"/>
          <p:nvPr/>
        </p:nvSpPr>
        <p:spPr>
          <a:xfrm>
            <a:off x="8183880" y="4526280"/>
            <a:ext cx="3291840" cy="1005840"/>
          </a:xfrm>
          <a:prstGeom prst="rect">
            <a:avLst/>
          </a:prstGeom>
          <a:noFill/>
          <a:ln/>
        </p:spPr>
        <p:txBody>
          <a:bodyPr wrap="square" lIns="0" tIns="0" rIns="0" bIns="0" rtlCol="0" anchor="t"/>
          <a:lstStyle/>
          <a:p>
            <a:pPr indent="0" marL="0">
              <a:spcAft>
                <a:spcPts val="600"/>
              </a:spcAft>
              <a:buNone/>
            </a:pPr>
            <a:r>
              <a:rPr lang="en-US" sz="1400" dirty="0">
                <a:solidFill>
                  <a:schemeClr val="bg2"/>
                </a:solidFill>
              </a:rPr>
              <a:t>Degradación de la demora de pico a +30 %: MAPPO frente a max-pressure</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000" b="1" dirty="0">
                <a:solidFill>
                  <a:schemeClr val="bg1"/>
                </a:solidFill>
                <a:latin typeface="Arial" pitchFamily="34" charset="0"/>
                <a:ea typeface="Arial" pitchFamily="34" charset="-122"/>
                <a:cs typeface="Arial" pitchFamily="34" charset="-120"/>
              </a:rPr>
              <a:t>E8 · En el cruce, menos demora cuesta equidad</a:t>
            </a:r>
            <a:endParaRPr lang="en-US" sz="3000" dirty="0"/>
          </a:p>
        </p:txBody>
      </p:sp>
      <p:sp>
        <p:nvSpPr>
          <p:cNvPr id="3" name="titulo grafica"/>
          <p:cNvSpPr txBox="1"/>
          <p:nvPr/>
        </p:nvSpPr>
        <p:spPr>
          <a:xfrm>
            <a:off x="548640" y="1371600"/>
            <a:ext cx="6217920" cy="365760"/>
          </a:xfrm>
          <a:prstGeom prst="rect">
            <a:avLst/>
          </a:prstGeom>
          <a:noFill/>
          <a:ln/>
        </p:spPr>
        <p:txBody>
          <a:bodyPr wrap="square" lIns="0" tIns="0" rIns="0" bIns="0" rtlCol="0" anchor="t"/>
          <a:lstStyle/>
          <a:p>
            <a:pPr indent="0" marL="0">
              <a:spcAft>
                <a:spcPts val="600"/>
              </a:spcAft>
              <a:buNone/>
            </a:pPr>
            <a:r>
              <a:rPr lang="en-US" sz="1600" b="1" dirty="0">
                <a:solidFill>
                  <a:schemeClr val="bg2"/>
                </a:solidFill>
              </a:rPr>
              <a:t>Cruce C12 · espera máxima en la 12 calle (s)</a:t>
            </a:r>
            <a:endParaRPr lang="en-US" sz="1600" dirty="0"/>
          </a:p>
        </p:txBody>
      </p:sp>
      <p:graphicFrame>
        <p:nvGraphicFramePr>
          <p:cNvPr id="4" name="Grafica E8 equidad cruce" descr=""/>
          <p:cNvGraphicFramePr/>
          <p:nvPr/>
        </p:nvGraphicFramePr>
        <p:xfrm>
          <a:off x="548640" y="1737360"/>
          <a:ext cx="6217920" cy="3291840"/>
        </p:xfrm>
        <a:graphic xmlns:a="http://schemas.openxmlformats.org/drawingml/2006/main">
          <a:graphicData uri="http://schemas.openxmlformats.org/drawingml/2006/chart">
            <c:chart xmlns:c="http://schemas.openxmlformats.org/drawingml/2006/chart" r:id="rId1"/>
          </a:graphicData>
        </a:graphic>
      </p:graphicFrame>
      <p:sp>
        <p:nvSpPr>
          <p:cNvPr id="5" name="nota al pie"/>
          <p:cNvSpPr txBox="1"/>
          <p:nvPr/>
        </p:nvSpPr>
        <p:spPr>
          <a:xfrm>
            <a:off x="548640" y="5120640"/>
            <a:ext cx="6217920" cy="320040"/>
          </a:xfrm>
          <a:prstGeom prst="rect">
            <a:avLst/>
          </a:prstGeom>
          <a:noFill/>
          <a:ln/>
        </p:spPr>
        <p:txBody>
          <a:bodyPr wrap="square" lIns="0" tIns="0" rIns="0" bIns="0" rtlCol="0" anchor="ctr"/>
          <a:lstStyle/>
          <a:p>
            <a:pPr indent="0" marL="0">
              <a:buNone/>
            </a:pPr>
            <a:r>
              <a:rPr lang="en-US" sz="1100" i="1" dirty="0">
                <a:solidFill>
                  <a:schemeClr val="bg2"/>
                </a:solidFill>
              </a:rPr>
              <a:t>Media de 5 semillas (líneas base: 10 episodios). +48 % a +140 % frente al fijo.</a:t>
            </a:r>
            <a:endParaRPr lang="en-US" sz="1100" dirty="0"/>
          </a:p>
        </p:txBody>
      </p:sp>
      <p:sp>
        <p:nvSpPr>
          <p:cNvPr id="6" name="tarjeta corredor"/>
          <p:cNvSpPr/>
          <p:nvPr/>
        </p:nvSpPr>
        <p:spPr>
          <a:xfrm>
            <a:off x="7132320" y="1417320"/>
            <a:ext cx="4507992" cy="2057400"/>
          </a:xfrm>
          <a:prstGeom prst="roundRect">
            <a:avLst>
              <a:gd name="adj" fmla="val 5333"/>
            </a:avLst>
          </a:prstGeom>
          <a:solidFill>
            <a:schemeClr val="tx2"/>
          </a:solidFill>
          <a:ln w="9525">
            <a:solidFill>
              <a:schemeClr val="accent6"/>
            </a:solidFill>
            <a:prstDash val="solid"/>
          </a:ln>
        </p:spPr>
      </p:sp>
      <p:sp>
        <p:nvSpPr>
          <p:cNvPr id="7" name="punto En el corredor, sin ese costo"/>
          <p:cNvSpPr/>
          <p:nvPr/>
        </p:nvSpPr>
        <p:spPr>
          <a:xfrm>
            <a:off x="7360920" y="1682496"/>
            <a:ext cx="201168" cy="201168"/>
          </a:xfrm>
          <a:prstGeom prst="ellipse">
            <a:avLst/>
          </a:prstGeom>
          <a:solidFill>
            <a:srgbClr val="2EE6A6"/>
          </a:solidFill>
          <a:ln w="12700">
            <a:solidFill>
              <a:srgbClr val="2EE6A6"/>
            </a:solidFill>
            <a:prstDash val="solid"/>
          </a:ln>
        </p:spPr>
      </p:sp>
      <p:sp>
        <p:nvSpPr>
          <p:cNvPr id="8" name="encabezado En el corredor, sin ese costo"/>
          <p:cNvSpPr txBox="1"/>
          <p:nvPr/>
        </p:nvSpPr>
        <p:spPr>
          <a:xfrm>
            <a:off x="7680960" y="1600200"/>
            <a:ext cx="3794760" cy="365760"/>
          </a:xfrm>
          <a:prstGeom prst="rect">
            <a:avLst/>
          </a:prstGeom>
          <a:noFill/>
          <a:ln/>
        </p:spPr>
        <p:txBody>
          <a:bodyPr wrap="square" lIns="0" tIns="0" rIns="0" bIns="0" rtlCol="0" anchor="ctr"/>
          <a:lstStyle/>
          <a:p>
            <a:pPr indent="0" marL="0">
              <a:buNone/>
            </a:pPr>
            <a:r>
              <a:rPr lang="en-US" sz="1800" b="1" dirty="0">
                <a:solidFill>
                  <a:schemeClr val="bg1"/>
                </a:solidFill>
              </a:rPr>
              <a:t>En el corredor, sin ese costo</a:t>
            </a:r>
            <a:endParaRPr lang="en-US" sz="1800" dirty="0"/>
          </a:p>
        </p:txBody>
      </p:sp>
      <p:sp>
        <p:nvSpPr>
          <p:cNvPr id="9" name="texto corredor"/>
          <p:cNvSpPr txBox="1"/>
          <p:nvPr/>
        </p:nvSpPr>
        <p:spPr>
          <a:xfrm>
            <a:off x="7680960" y="2057400"/>
            <a:ext cx="3794760" cy="1280160"/>
          </a:xfrm>
          <a:prstGeom prst="rect">
            <a:avLst/>
          </a:prstGeom>
          <a:noFill/>
          <a:ln/>
        </p:spPr>
        <p:txBody>
          <a:bodyPr wrap="square" lIns="0" tIns="0" rIns="0" bIns="0" rtlCol="0" anchor="t"/>
          <a:lstStyle/>
          <a:p>
            <a:pPr indent="0" marL="0">
              <a:spcAft>
                <a:spcPts val="600"/>
              </a:spcAft>
              <a:buNone/>
            </a:pPr>
            <a:r>
              <a:rPr lang="en-US" sz="1700" dirty="0">
                <a:solidFill>
                  <a:schemeClr val="bg2"/>
                </a:solidFill>
              </a:rPr>
              <a:t>Espera máxima en transversales: MAPPO 314 s, max-pressure 420 s, tiempo fijo 524 s.</a:t>
            </a:r>
            <a:endParaRPr lang="en-US" sz="1700" dirty="0"/>
          </a:p>
        </p:txBody>
      </p:sp>
      <p:sp>
        <p:nvSpPr>
          <p:cNvPr id="10" name="tarjeta co2"/>
          <p:cNvSpPr/>
          <p:nvPr/>
        </p:nvSpPr>
        <p:spPr>
          <a:xfrm>
            <a:off x="7132320" y="3657600"/>
            <a:ext cx="4507992" cy="2057400"/>
          </a:xfrm>
          <a:prstGeom prst="roundRect">
            <a:avLst>
              <a:gd name="adj" fmla="val 5333"/>
            </a:avLst>
          </a:prstGeom>
          <a:solidFill>
            <a:schemeClr val="tx2"/>
          </a:solidFill>
          <a:ln w="9525">
            <a:solidFill>
              <a:schemeClr val="accent6"/>
            </a:solidFill>
            <a:prstDash val="solid"/>
          </a:ln>
        </p:spPr>
      </p:sp>
      <p:sp>
        <p:nvSpPr>
          <p:cNvPr id="11" name="punto CO₂ frente al tiempo fijo"/>
          <p:cNvSpPr/>
          <p:nvPr/>
        </p:nvSpPr>
        <p:spPr>
          <a:xfrm>
            <a:off x="7360920" y="3922776"/>
            <a:ext cx="201168" cy="201168"/>
          </a:xfrm>
          <a:prstGeom prst="ellipse">
            <a:avLst/>
          </a:prstGeom>
          <a:solidFill>
            <a:srgbClr val="FF9F43"/>
          </a:solidFill>
          <a:ln w="12700">
            <a:solidFill>
              <a:srgbClr val="FF9F43"/>
            </a:solidFill>
            <a:prstDash val="solid"/>
          </a:ln>
        </p:spPr>
      </p:sp>
      <p:sp>
        <p:nvSpPr>
          <p:cNvPr id="12" name="encabezado CO₂ frente al tiempo fijo"/>
          <p:cNvSpPr txBox="1"/>
          <p:nvPr/>
        </p:nvSpPr>
        <p:spPr>
          <a:xfrm>
            <a:off x="7680960" y="3840480"/>
            <a:ext cx="3794760" cy="365760"/>
          </a:xfrm>
          <a:prstGeom prst="rect">
            <a:avLst/>
          </a:prstGeom>
          <a:noFill/>
          <a:ln/>
        </p:spPr>
        <p:txBody>
          <a:bodyPr wrap="square" lIns="0" tIns="0" rIns="0" bIns="0" rtlCol="0" anchor="ctr"/>
          <a:lstStyle/>
          <a:p>
            <a:pPr indent="0" marL="0">
              <a:buNone/>
            </a:pPr>
            <a:r>
              <a:rPr lang="en-US" sz="1800" b="1" dirty="0">
                <a:solidFill>
                  <a:schemeClr val="bg1"/>
                </a:solidFill>
              </a:rPr>
              <a:t>CO₂ frente al tiempo fijo</a:t>
            </a:r>
            <a:endParaRPr lang="en-US" sz="1800" dirty="0"/>
          </a:p>
        </p:txBody>
      </p:sp>
      <p:sp>
        <p:nvSpPr>
          <p:cNvPr id="13" name="texto co2"/>
          <p:cNvSpPr txBox="1"/>
          <p:nvPr/>
        </p:nvSpPr>
        <p:spPr>
          <a:xfrm>
            <a:off x="7680960" y="4297680"/>
            <a:ext cx="3794760" cy="1280160"/>
          </a:xfrm>
          <a:prstGeom prst="rect">
            <a:avLst/>
          </a:prstGeom>
          <a:noFill/>
          <a:ln/>
        </p:spPr>
        <p:txBody>
          <a:bodyPr wrap="square" lIns="0" tIns="0" rIns="0" bIns="0" rtlCol="0" anchor="t"/>
          <a:lstStyle/>
          <a:p>
            <a:pPr indent="0" marL="0">
              <a:spcAft>
                <a:spcPts val="600"/>
              </a:spcAft>
              <a:buNone/>
            </a:pPr>
            <a:r>
              <a:rPr lang="en-US" sz="1700" dirty="0">
                <a:solidFill>
                  <a:schemeClr val="bg2"/>
                </a:solidFill>
              </a:rPr>
              <a:t>Actuado −11.3 %, max-pressure −9.6 %; agentes aprendidos entre −8.4 % y +2.7 %.</a:t>
            </a:r>
            <a:endParaRPr lang="en-US" sz="17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000" b="1" dirty="0">
                <a:solidFill>
                  <a:schemeClr val="bg1"/>
                </a:solidFill>
                <a:latin typeface="Arial" pitchFamily="34" charset="0"/>
                <a:ea typeface="Arial" pitchFamily="34" charset="-122"/>
                <a:cs typeface="Arial" pitchFamily="34" charset="-120"/>
              </a:rPr>
              <a:t>Resumen: el RL vence al fijo, no a max-pressure</a:t>
            </a:r>
            <a:endParaRPr lang="en-US" sz="3000" dirty="0"/>
          </a:p>
        </p:txBody>
      </p:sp>
      <p:sp>
        <p:nvSpPr>
          <p:cNvPr id="3" name="Figura resumen de demora total marco"/>
          <p:cNvSpPr/>
          <p:nvPr/>
        </p:nvSpPr>
        <p:spPr>
          <a:xfrm>
            <a:off x="850392" y="1307592"/>
            <a:ext cx="10497312" cy="4974336"/>
          </a:xfrm>
          <a:prstGeom prst="roundRect">
            <a:avLst>
              <a:gd name="adj" fmla="val 2206"/>
            </a:avLst>
          </a:prstGeom>
          <a:solidFill>
            <a:srgbClr val="FFFFFF"/>
          </a:solidFill>
          <a:ln w="12700">
            <a:solidFill>
              <a:srgbClr val="FFFFFF"/>
            </a:solidFill>
            <a:prstDash val="solid"/>
          </a:ln>
        </p:spPr>
      </p:sp>
      <p:pic>
        <p:nvPicPr>
          <p:cNvPr id="4" name="Figura resumen de demora total" descr="Figura resumen de demora total">    </p:cNvPr>
          <p:cNvPicPr>
            <a:picLocks noChangeAspect="1"/>
          </p:cNvPicPr>
          <p:nvPr/>
        </p:nvPicPr>
        <p:blipFill>
          <a:blip r:embed="rId1"/>
          <a:stretch>
            <a:fillRect/>
          </a:stretch>
        </p:blipFill>
        <p:spPr>
          <a:xfrm>
            <a:off x="960120" y="1417320"/>
            <a:ext cx="10277856" cy="4754880"/>
          </a:xfrm>
          <a:prstGeom prst="rect">
            <a:avLst/>
          </a:prstGeom>
        </p:spPr>
      </p:pic>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000" b="1" dirty="0">
                <a:solidFill>
                  <a:schemeClr val="bg1"/>
                </a:solidFill>
                <a:latin typeface="Arial" pitchFamily="34" charset="0"/>
                <a:ea typeface="Arial" pitchFamily="34" charset="-122"/>
                <a:cs typeface="Arial" pitchFamily="34" charset="-120"/>
              </a:rPr>
              <a:t>Demo en vivo: tiempo fijo contra MAPPO</a:t>
            </a:r>
            <a:endParaRPr lang="en-US" sz="3000" dirty="0"/>
          </a:p>
        </p:txBody>
      </p:sp>
      <p:pic>
        <p:nvPicPr>
          <p:cNvPr id="3" name="Captura de la demo con incidente" descr="Captura de la demo con incidente">    </p:cNvPr>
          <p:cNvPicPr>
            <a:picLocks noChangeAspect="1"/>
          </p:cNvPicPr>
          <p:nvPr/>
        </p:nvPicPr>
        <p:blipFill>
          <a:blip r:embed="rId1"/>
          <a:stretch>
            <a:fillRect/>
          </a:stretch>
        </p:blipFill>
        <p:spPr>
          <a:xfrm>
            <a:off x="594360" y="1417320"/>
            <a:ext cx="7589520" cy="4270248"/>
          </a:xfrm>
          <a:prstGeom prst="rect">
            <a:avLst/>
          </a:prstGeom>
        </p:spPr>
      </p:pic>
      <p:sp>
        <p:nvSpPr>
          <p:cNvPr id="4" name="marco demo"/>
          <p:cNvSpPr/>
          <p:nvPr/>
        </p:nvSpPr>
        <p:spPr>
          <a:xfrm>
            <a:off x="548640" y="1371600"/>
            <a:ext cx="7680960" cy="4361688"/>
          </a:xfrm>
          <a:prstGeom prst="roundRect">
            <a:avLst>
              <a:gd name="adj" fmla="val 1258"/>
            </a:avLst>
          </a:prstGeom>
          <a:solidFill>
            <a:schemeClr val="tx1">
              <a:alpha val="0"/>
            </a:schemeClr>
          </a:solidFill>
          <a:ln w="12700">
            <a:solidFill>
              <a:schemeClr val="accent6"/>
            </a:solidFill>
            <a:prstDash val="solid"/>
          </a:ln>
        </p:spPr>
      </p:sp>
      <p:sp>
        <p:nvSpPr>
          <p:cNvPr id="5" name="nota al pie"/>
          <p:cNvSpPr txBox="1"/>
          <p:nvPr/>
        </p:nvSpPr>
        <p:spPr>
          <a:xfrm>
            <a:off x="548640" y="5852160"/>
            <a:ext cx="7680960" cy="320040"/>
          </a:xfrm>
          <a:prstGeom prst="rect">
            <a:avLst/>
          </a:prstGeom>
          <a:noFill/>
          <a:ln/>
        </p:spPr>
        <p:txBody>
          <a:bodyPr wrap="square" lIns="0" tIns="0" rIns="0" bIns="0" rtlCol="0" anchor="ctr"/>
          <a:lstStyle/>
          <a:p>
            <a:pPr indent="0" marL="0">
              <a:buNone/>
            </a:pPr>
            <a:r>
              <a:rPr lang="en-US" sz="1100" i="1" dirty="0">
                <a:solidFill>
                  <a:schemeClr val="bg2"/>
                </a:solidFill>
              </a:rPr>
              <a:t>Captura del video de respaldo: incidente en Reforma entre la 12 y la 10a calle.</a:t>
            </a:r>
            <a:endParaRPr lang="en-US" sz="1100" dirty="0"/>
          </a:p>
        </p:txBody>
      </p:sp>
      <p:sp>
        <p:nvSpPr>
          <p:cNvPr id="6" name="demo lista"/>
          <p:cNvSpPr txBox="1"/>
          <p:nvPr/>
        </p:nvSpPr>
        <p:spPr>
          <a:xfrm>
            <a:off x="8549640" y="1463040"/>
            <a:ext cx="3108960" cy="329184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Dos simulaciones SUMO sincronizadas: misma demanda y semilla</a:t>
            </a:r>
            <a:endParaRPr lang="en-US" sz="1600" dirty="0"/>
          </a:p>
          <a:p>
            <a:pPr marL="228600" indent="-228600">
              <a:spcAft>
                <a:spcPts val="1000"/>
              </a:spcAft>
              <a:buSzPct val="100000"/>
              <a:buChar char="•"/>
            </a:pPr>
            <a:r>
              <a:rPr lang="en-US" sz="1600" dirty="0">
                <a:solidFill>
                  <a:schemeClr val="bg1"/>
                </a:solidFill>
              </a:rPr>
              <a:t>En vivo: inyectar autos, cambiar la hora, cerrar carriles</a:t>
            </a:r>
            <a:endParaRPr lang="en-US" sz="1600" dirty="0"/>
          </a:p>
          <a:p>
            <a:pPr marL="228600" indent="-228600">
              <a:spcAft>
                <a:spcPts val="1000"/>
              </a:spcAft>
              <a:buSzPct val="100000"/>
              <a:buChar char="•"/>
            </a:pPr>
            <a:r>
              <a:rPr lang="en-US" sz="1600" dirty="0">
                <a:solidFill>
                  <a:schemeClr val="bg1"/>
                </a:solidFill>
              </a:rPr>
              <a:t>«Mejora» = espera en vivo, no la demora total evaluada</a:t>
            </a:r>
            <a:endParaRPr lang="en-US" sz="1600" dirty="0"/>
          </a:p>
        </p:txBody>
      </p:sp>
      <p:sp>
        <p:nvSpPr>
          <p:cNvPr id="7" name="tarjeta plan b"/>
          <p:cNvSpPr/>
          <p:nvPr/>
        </p:nvSpPr>
        <p:spPr>
          <a:xfrm>
            <a:off x="8503920" y="4800600"/>
            <a:ext cx="3136392" cy="914400"/>
          </a:xfrm>
          <a:prstGeom prst="roundRect">
            <a:avLst>
              <a:gd name="adj" fmla="val 12000"/>
            </a:avLst>
          </a:prstGeom>
          <a:solidFill>
            <a:schemeClr val="tx2"/>
          </a:solidFill>
          <a:ln w="9525">
            <a:solidFill>
              <a:schemeClr val="accent6"/>
            </a:solidFill>
            <a:prstDash val="solid"/>
          </a:ln>
        </p:spPr>
      </p:sp>
      <p:sp>
        <p:nvSpPr>
          <p:cNvPr id="8" name="plan b"/>
          <p:cNvSpPr txBox="1"/>
          <p:nvPr/>
        </p:nvSpPr>
        <p:spPr>
          <a:xfrm>
            <a:off x="8686800" y="4800600"/>
            <a:ext cx="2834640" cy="914400"/>
          </a:xfrm>
          <a:prstGeom prst="rect">
            <a:avLst/>
          </a:prstGeom>
          <a:noFill/>
          <a:ln/>
        </p:spPr>
        <p:txBody>
          <a:bodyPr wrap="square" lIns="0" tIns="0" rIns="0" bIns="0" rtlCol="0" anchor="ctr"/>
          <a:lstStyle/>
          <a:p>
            <a:pPr indent="0" marL="0">
              <a:spcAft>
                <a:spcPts val="600"/>
              </a:spcAft>
              <a:buNone/>
            </a:pPr>
            <a:r>
              <a:rPr lang="en-US" sz="1600" b="1" dirty="0">
                <a:solidFill>
                  <a:schemeClr val="accent2"/>
                </a:solidFill>
              </a:rPr>
              <a:t>Plan B: video de 3:46</a:t>
            </a:r>
            <a:endParaRPr lang="en-US" sz="16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000" b="1" dirty="0">
                <a:solidFill>
                  <a:schemeClr val="bg1"/>
                </a:solidFill>
                <a:latin typeface="Arial" pitchFamily="34" charset="0"/>
                <a:ea typeface="Arial" pitchFamily="34" charset="-122"/>
                <a:cs typeface="Arial" pitchFamily="34" charset="-120"/>
              </a:rPr>
              <a:t>Ética y limitaciones</a:t>
            </a:r>
            <a:endParaRPr lang="en-US" sz="3000" dirty="0"/>
          </a:p>
        </p:txBody>
      </p:sp>
      <p:sp>
        <p:nvSpPr>
          <p:cNvPr id="3" name="tarjeta no ve"/>
          <p:cNvSpPr/>
          <p:nvPr/>
        </p:nvSpPr>
        <p:spPr>
          <a:xfrm>
            <a:off x="548640" y="1417320"/>
            <a:ext cx="5440680" cy="2880360"/>
          </a:xfrm>
          <a:prstGeom prst="roundRect">
            <a:avLst>
              <a:gd name="adj" fmla="val 3810"/>
            </a:avLst>
          </a:prstGeom>
          <a:solidFill>
            <a:schemeClr val="tx2"/>
          </a:solidFill>
          <a:ln w="9525">
            <a:solidFill>
              <a:schemeClr val="accent6"/>
            </a:solidFill>
            <a:prstDash val="solid"/>
          </a:ln>
        </p:spPr>
      </p:sp>
      <p:sp>
        <p:nvSpPr>
          <p:cNvPr id="4" name="punto Lo que el modelo no ve"/>
          <p:cNvSpPr/>
          <p:nvPr/>
        </p:nvSpPr>
        <p:spPr>
          <a:xfrm>
            <a:off x="822960" y="1728216"/>
            <a:ext cx="201168" cy="201168"/>
          </a:xfrm>
          <a:prstGeom prst="ellipse">
            <a:avLst/>
          </a:prstGeom>
          <a:solidFill>
            <a:srgbClr val="FF6B6B"/>
          </a:solidFill>
          <a:ln w="12700">
            <a:solidFill>
              <a:srgbClr val="FF6B6B"/>
            </a:solidFill>
            <a:prstDash val="solid"/>
          </a:ln>
        </p:spPr>
      </p:sp>
      <p:sp>
        <p:nvSpPr>
          <p:cNvPr id="5" name="encabezado Lo que el modelo no ve"/>
          <p:cNvSpPr txBox="1"/>
          <p:nvPr/>
        </p:nvSpPr>
        <p:spPr>
          <a:xfrm>
            <a:off x="1143000" y="1645920"/>
            <a:ext cx="4617720" cy="365760"/>
          </a:xfrm>
          <a:prstGeom prst="rect">
            <a:avLst/>
          </a:prstGeom>
          <a:noFill/>
          <a:ln/>
        </p:spPr>
        <p:txBody>
          <a:bodyPr wrap="square" lIns="0" tIns="0" rIns="0" bIns="0" rtlCol="0" anchor="ctr"/>
          <a:lstStyle/>
          <a:p>
            <a:pPr indent="0" marL="0">
              <a:buNone/>
            </a:pPr>
            <a:r>
              <a:rPr lang="en-US" sz="2000" b="1" dirty="0">
                <a:solidFill>
                  <a:schemeClr val="bg1"/>
                </a:solidFill>
              </a:rPr>
              <a:t>Lo que el modelo no ve</a:t>
            </a:r>
            <a:endParaRPr lang="en-US" sz="2000" dirty="0"/>
          </a:p>
        </p:txBody>
      </p:sp>
      <p:sp>
        <p:nvSpPr>
          <p:cNvPr id="6" name="no ve lista"/>
          <p:cNvSpPr txBox="1"/>
          <p:nvPr/>
        </p:nvSpPr>
        <p:spPr>
          <a:xfrm>
            <a:off x="914400" y="2194560"/>
            <a:ext cx="4846320" cy="201168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bg1"/>
                </a:solidFill>
              </a:rPr>
              <a:t>Peatones: fases mínimas como restricción dura</a:t>
            </a:r>
            <a:endParaRPr lang="en-US" sz="1700" dirty="0"/>
          </a:p>
          <a:p>
            <a:pPr marL="228600" indent="-228600">
              <a:spcAft>
                <a:spcPts val="1000"/>
              </a:spcAft>
              <a:buSzPct val="100000"/>
              <a:buChar char="•"/>
            </a:pPr>
            <a:r>
              <a:rPr lang="en-US" sz="1700" dirty="0">
                <a:solidFill>
                  <a:schemeClr val="bg1"/>
                </a:solidFill>
              </a:rPr>
              <a:t>Emergencias: prioridad por encima del agente</a:t>
            </a:r>
            <a:endParaRPr lang="en-US" sz="1700" dirty="0"/>
          </a:p>
          <a:p>
            <a:pPr marL="228600" indent="-228600">
              <a:spcAft>
                <a:spcPts val="1000"/>
              </a:spcAft>
              <a:buSzPct val="100000"/>
              <a:buChar char="•"/>
            </a:pPr>
            <a:r>
              <a:rPr lang="en-US" sz="1700" dirty="0">
                <a:solidFill>
                  <a:schemeClr val="bg1"/>
                </a:solidFill>
              </a:rPr>
              <a:t>Buses y motos: la recompensa cuenta vehículos, no personas</a:t>
            </a:r>
            <a:endParaRPr lang="en-US" sz="1700" dirty="0"/>
          </a:p>
        </p:txBody>
      </p:sp>
      <p:sp>
        <p:nvSpPr>
          <p:cNvPr id="7" name="tarjeta limitaciones"/>
          <p:cNvSpPr/>
          <p:nvPr/>
        </p:nvSpPr>
        <p:spPr>
          <a:xfrm>
            <a:off x="6199632" y="1417320"/>
            <a:ext cx="5440680" cy="2880360"/>
          </a:xfrm>
          <a:prstGeom prst="roundRect">
            <a:avLst>
              <a:gd name="adj" fmla="val 3810"/>
            </a:avLst>
          </a:prstGeom>
          <a:solidFill>
            <a:schemeClr val="tx2"/>
          </a:solidFill>
          <a:ln w="9525">
            <a:solidFill>
              <a:schemeClr val="accent6"/>
            </a:solidFill>
            <a:prstDash val="solid"/>
          </a:ln>
        </p:spPr>
      </p:sp>
      <p:sp>
        <p:nvSpPr>
          <p:cNvPr id="8" name="punto Limitaciones"/>
          <p:cNvSpPr/>
          <p:nvPr/>
        </p:nvSpPr>
        <p:spPr>
          <a:xfrm>
            <a:off x="6473952" y="1728216"/>
            <a:ext cx="201168" cy="201168"/>
          </a:xfrm>
          <a:prstGeom prst="ellipse">
            <a:avLst/>
          </a:prstGeom>
          <a:solidFill>
            <a:srgbClr val="FF9F43"/>
          </a:solidFill>
          <a:ln w="12700">
            <a:solidFill>
              <a:srgbClr val="FF9F43"/>
            </a:solidFill>
            <a:prstDash val="solid"/>
          </a:ln>
        </p:spPr>
      </p:sp>
      <p:sp>
        <p:nvSpPr>
          <p:cNvPr id="9" name="encabezado Limitaciones"/>
          <p:cNvSpPr txBox="1"/>
          <p:nvPr/>
        </p:nvSpPr>
        <p:spPr>
          <a:xfrm>
            <a:off x="6793992" y="1645920"/>
            <a:ext cx="4617720" cy="365760"/>
          </a:xfrm>
          <a:prstGeom prst="rect">
            <a:avLst/>
          </a:prstGeom>
          <a:noFill/>
          <a:ln/>
        </p:spPr>
        <p:txBody>
          <a:bodyPr wrap="square" lIns="0" tIns="0" rIns="0" bIns="0" rtlCol="0" anchor="ctr"/>
          <a:lstStyle/>
          <a:p>
            <a:pPr indent="0" marL="0">
              <a:buNone/>
            </a:pPr>
            <a:r>
              <a:rPr lang="en-US" sz="2000" b="1" dirty="0">
                <a:solidFill>
                  <a:schemeClr val="bg1"/>
                </a:solidFill>
              </a:rPr>
              <a:t>Limitaciones</a:t>
            </a:r>
            <a:endParaRPr lang="en-US" sz="2000" dirty="0"/>
          </a:p>
        </p:txBody>
      </p:sp>
      <p:sp>
        <p:nvSpPr>
          <p:cNvPr id="10" name="limitaciones lista"/>
          <p:cNvSpPr txBox="1"/>
          <p:nvPr/>
        </p:nvSpPr>
        <p:spPr>
          <a:xfrm>
            <a:off x="6565392" y="2194560"/>
            <a:ext cx="4846320" cy="201168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bg1"/>
                </a:solidFill>
              </a:rPr>
              <a:t>Conteos y ciclo fijo sintéticos</a:t>
            </a:r>
            <a:endParaRPr lang="en-US" sz="1700" dirty="0"/>
          </a:p>
          <a:p>
            <a:pPr marL="228600" indent="-228600">
              <a:spcAft>
                <a:spcPts val="1000"/>
              </a:spcAft>
              <a:buSzPct val="100000"/>
              <a:buChar char="•"/>
            </a:pPr>
            <a:r>
              <a:rPr lang="en-US" sz="1700" dirty="0">
                <a:solidFill>
                  <a:schemeClr val="bg1"/>
                </a:solidFill>
              </a:rPr>
              <a:t>5 semillas: poco poder estadístico</a:t>
            </a:r>
            <a:endParaRPr lang="en-US" sz="1700" dirty="0"/>
          </a:p>
          <a:p>
            <a:pPr marL="228600" indent="-228600">
              <a:spcAft>
                <a:spcPts val="1000"/>
              </a:spcAft>
              <a:buSzPct val="100000"/>
              <a:buChar char="•"/>
            </a:pPr>
            <a:r>
              <a:rPr lang="en-US" sz="1700" dirty="0">
                <a:solidFill>
                  <a:schemeClr val="bg1"/>
                </a:solidFill>
              </a:rPr>
              <a:t>Detectores perfectos en simulación; brecha con la calle</a:t>
            </a:r>
            <a:endParaRPr lang="en-US" sz="1700" dirty="0"/>
          </a:p>
        </p:txBody>
      </p:sp>
      <p:sp>
        <p:nvSpPr>
          <p:cNvPr id="11" name="tarjeta quien gana"/>
          <p:cNvSpPr/>
          <p:nvPr/>
        </p:nvSpPr>
        <p:spPr>
          <a:xfrm>
            <a:off x="548640" y="4526280"/>
            <a:ext cx="11094415" cy="1280160"/>
          </a:xfrm>
          <a:prstGeom prst="roundRect">
            <a:avLst>
              <a:gd name="adj" fmla="val 8571"/>
            </a:avLst>
          </a:prstGeom>
          <a:solidFill>
            <a:schemeClr val="tx2"/>
          </a:solidFill>
          <a:ln w="9525">
            <a:solidFill>
              <a:schemeClr val="accent6"/>
            </a:solidFill>
            <a:prstDash val="solid"/>
          </a:ln>
        </p:spPr>
      </p:sp>
      <p:sp>
        <p:nvSpPr>
          <p:cNvPr id="12" name="punto ¿Quién gana y quién pierde?"/>
          <p:cNvSpPr/>
          <p:nvPr/>
        </p:nvSpPr>
        <p:spPr>
          <a:xfrm>
            <a:off x="822960" y="4791456"/>
            <a:ext cx="201168" cy="201168"/>
          </a:xfrm>
          <a:prstGeom prst="ellipse">
            <a:avLst/>
          </a:prstGeom>
          <a:solidFill>
            <a:srgbClr val="C9CED6"/>
          </a:solidFill>
          <a:ln w="12700">
            <a:solidFill>
              <a:srgbClr val="C9CED6"/>
            </a:solidFill>
            <a:prstDash val="solid"/>
          </a:ln>
        </p:spPr>
      </p:sp>
      <p:sp>
        <p:nvSpPr>
          <p:cNvPr id="13" name="encabezado ¿Quién gana y quién pierde?"/>
          <p:cNvSpPr txBox="1"/>
          <p:nvPr/>
        </p:nvSpPr>
        <p:spPr>
          <a:xfrm>
            <a:off x="1143000" y="4709160"/>
            <a:ext cx="10195560" cy="365760"/>
          </a:xfrm>
          <a:prstGeom prst="rect">
            <a:avLst/>
          </a:prstGeom>
          <a:noFill/>
          <a:ln/>
        </p:spPr>
        <p:txBody>
          <a:bodyPr wrap="square" lIns="0" tIns="0" rIns="0" bIns="0" rtlCol="0" anchor="ctr"/>
          <a:lstStyle/>
          <a:p>
            <a:pPr indent="0" marL="0">
              <a:buNone/>
            </a:pPr>
            <a:r>
              <a:rPr lang="en-US" sz="2000" b="1" dirty="0">
                <a:solidFill>
                  <a:schemeClr val="bg1"/>
                </a:solidFill>
              </a:rPr>
              <a:t>¿Quién gana y quién pierde?</a:t>
            </a:r>
            <a:endParaRPr lang="en-US" sz="2000" dirty="0"/>
          </a:p>
        </p:txBody>
      </p:sp>
      <p:sp>
        <p:nvSpPr>
          <p:cNvPr id="14" name="quien gana texto"/>
          <p:cNvSpPr txBox="1"/>
          <p:nvPr/>
        </p:nvSpPr>
        <p:spPr>
          <a:xfrm>
            <a:off x="1143000" y="5166360"/>
            <a:ext cx="10332720" cy="502920"/>
          </a:xfrm>
          <a:prstGeom prst="rect">
            <a:avLst/>
          </a:prstGeom>
          <a:noFill/>
          <a:ln/>
        </p:spPr>
        <p:txBody>
          <a:bodyPr wrap="square" lIns="0" tIns="0" rIns="0" bIns="0" rtlCol="0" anchor="t"/>
          <a:lstStyle/>
          <a:p>
            <a:pPr indent="0" marL="0">
              <a:spcAft>
                <a:spcPts val="600"/>
              </a:spcAft>
              <a:buNone/>
            </a:pPr>
            <a:r>
              <a:rPr lang="en-US" sz="1700" dirty="0">
                <a:solidFill>
                  <a:schemeClr val="bg2"/>
                </a:solidFill>
              </a:rPr>
              <a:t>En el cruce gana quien va por Reforma; la espera máxima en la transversal sube hasta 140 % frente al fijo.</a:t>
            </a:r>
            <a:endParaRPr lang="en-US" sz="17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000" b="1" dirty="0">
                <a:solidFill>
                  <a:schemeClr val="bg1"/>
                </a:solidFill>
                <a:latin typeface="Arial" pitchFamily="34" charset="0"/>
                <a:ea typeface="Arial" pitchFamily="34" charset="-122"/>
                <a:cs typeface="Arial" pitchFamily="34" charset="-120"/>
              </a:rPr>
              <a:t>Conclusiones y trabajo futuro</a:t>
            </a:r>
            <a:endParaRPr lang="en-US" sz="3000" dirty="0"/>
          </a:p>
        </p:txBody>
      </p:sp>
      <p:sp>
        <p:nvSpPr>
          <p:cNvPr id="3" name="conclusion numero 0"/>
          <p:cNvSpPr txBox="1"/>
          <p:nvPr/>
        </p:nvSpPr>
        <p:spPr>
          <a:xfrm>
            <a:off x="548640" y="1417320"/>
            <a:ext cx="548640" cy="914400"/>
          </a:xfrm>
          <a:prstGeom prst="rect">
            <a:avLst/>
          </a:prstGeom>
          <a:noFill/>
          <a:ln/>
        </p:spPr>
        <p:txBody>
          <a:bodyPr wrap="square" lIns="0" tIns="0" rIns="0" bIns="0" rtlCol="0" anchor="ctr"/>
          <a:lstStyle/>
          <a:p>
            <a:pPr indent="0" marL="0">
              <a:buNone/>
            </a:pPr>
            <a:r>
              <a:rPr lang="en-US" sz="3200" b="1" dirty="0">
                <a:solidFill>
                  <a:srgbClr val="2EE6A6"/>
                </a:solidFill>
              </a:rPr>
              <a:t>1</a:t>
            </a:r>
            <a:endParaRPr lang="en-US" sz="3200" dirty="0"/>
          </a:p>
        </p:txBody>
      </p:sp>
      <p:sp>
        <p:nvSpPr>
          <p:cNvPr id="4" name="conclusion 0"/>
          <p:cNvSpPr txBox="1"/>
          <p:nvPr/>
        </p:nvSpPr>
        <p:spPr>
          <a:xfrm>
            <a:off x="1234440" y="1463040"/>
            <a:ext cx="6035040" cy="411480"/>
          </a:xfrm>
          <a:prstGeom prst="rect">
            <a:avLst/>
          </a:prstGeom>
          <a:noFill/>
          <a:ln/>
        </p:spPr>
        <p:txBody>
          <a:bodyPr wrap="square" lIns="0" tIns="0" rIns="0" bIns="0" rtlCol="0" anchor="t"/>
          <a:lstStyle/>
          <a:p>
            <a:pPr indent="0" marL="0">
              <a:spcAft>
                <a:spcPts val="600"/>
              </a:spcAft>
              <a:buNone/>
            </a:pPr>
            <a:r>
              <a:rPr lang="en-US" sz="1900" b="1" dirty="0">
                <a:solidFill>
                  <a:schemeClr val="bg1"/>
                </a:solidFill>
              </a:rPr>
              <a:t>Sí mejora frente al control actual</a:t>
            </a:r>
            <a:endParaRPr lang="en-US" sz="1900" dirty="0"/>
          </a:p>
        </p:txBody>
      </p:sp>
      <p:sp>
        <p:nvSpPr>
          <p:cNvPr id="5" name="conclusion texto 0"/>
          <p:cNvSpPr txBox="1"/>
          <p:nvPr/>
        </p:nvSpPr>
        <p:spPr>
          <a:xfrm>
            <a:off x="1234440" y="1892808"/>
            <a:ext cx="6035040" cy="411480"/>
          </a:xfrm>
          <a:prstGeom prst="rect">
            <a:avLst/>
          </a:prstGeom>
          <a:noFill/>
          <a:ln/>
        </p:spPr>
        <p:txBody>
          <a:bodyPr wrap="square" lIns="0" tIns="0" rIns="0" bIns="0" rtlCol="0" anchor="t"/>
          <a:lstStyle/>
          <a:p>
            <a:pPr indent="0" marL="0">
              <a:spcAft>
                <a:spcPts val="600"/>
              </a:spcAft>
              <a:buNone/>
            </a:pPr>
            <a:r>
              <a:rPr lang="en-US" sz="1500" dirty="0">
                <a:solidFill>
                  <a:schemeClr val="bg2"/>
                </a:solidFill>
              </a:rPr>
              <a:t>−41 % (MAPPO, corredor) y −37 % (DQN, cruce)</a:t>
            </a:r>
            <a:endParaRPr lang="en-US" sz="1500" dirty="0"/>
          </a:p>
        </p:txBody>
      </p:sp>
      <p:sp>
        <p:nvSpPr>
          <p:cNvPr id="6" name="conclusion numero 1"/>
          <p:cNvSpPr txBox="1"/>
          <p:nvPr/>
        </p:nvSpPr>
        <p:spPr>
          <a:xfrm>
            <a:off x="548640" y="2514600"/>
            <a:ext cx="548640" cy="914400"/>
          </a:xfrm>
          <a:prstGeom prst="rect">
            <a:avLst/>
          </a:prstGeom>
          <a:noFill/>
          <a:ln/>
        </p:spPr>
        <p:txBody>
          <a:bodyPr wrap="square" lIns="0" tIns="0" rIns="0" bIns="0" rtlCol="0" anchor="ctr"/>
          <a:lstStyle/>
          <a:p>
            <a:pPr indent="0" marL="0">
              <a:buNone/>
            </a:pPr>
            <a:r>
              <a:rPr lang="en-US" sz="3200" b="1" dirty="0">
                <a:solidFill>
                  <a:srgbClr val="C9CED6"/>
                </a:solidFill>
              </a:rPr>
              <a:t>2</a:t>
            </a:r>
            <a:endParaRPr lang="en-US" sz="3200" dirty="0"/>
          </a:p>
        </p:txBody>
      </p:sp>
      <p:sp>
        <p:nvSpPr>
          <p:cNvPr id="7" name="conclusion 1"/>
          <p:cNvSpPr txBox="1"/>
          <p:nvPr/>
        </p:nvSpPr>
        <p:spPr>
          <a:xfrm>
            <a:off x="1234440" y="2560320"/>
            <a:ext cx="6035040" cy="411480"/>
          </a:xfrm>
          <a:prstGeom prst="rect">
            <a:avLst/>
          </a:prstGeom>
          <a:noFill/>
          <a:ln/>
        </p:spPr>
        <p:txBody>
          <a:bodyPr wrap="square" lIns="0" tIns="0" rIns="0" bIns="0" rtlCol="0" anchor="t"/>
          <a:lstStyle/>
          <a:p>
            <a:pPr indent="0" marL="0">
              <a:spcAft>
                <a:spcPts val="600"/>
              </a:spcAft>
              <a:buNone/>
            </a:pPr>
            <a:r>
              <a:rPr lang="en-US" sz="1900" b="1" dirty="0">
                <a:solidFill>
                  <a:schemeClr val="bg1"/>
                </a:solidFill>
              </a:rPr>
              <a:t>No supera a max-pressure</a:t>
            </a:r>
            <a:endParaRPr lang="en-US" sz="1900" dirty="0"/>
          </a:p>
        </p:txBody>
      </p:sp>
      <p:sp>
        <p:nvSpPr>
          <p:cNvPr id="8" name="conclusion texto 1"/>
          <p:cNvSpPr txBox="1"/>
          <p:nvPr/>
        </p:nvSpPr>
        <p:spPr>
          <a:xfrm>
            <a:off x="1234440" y="2990088"/>
            <a:ext cx="6035040" cy="411480"/>
          </a:xfrm>
          <a:prstGeom prst="rect">
            <a:avLst/>
          </a:prstGeom>
          <a:noFill/>
          <a:ln/>
        </p:spPr>
        <p:txBody>
          <a:bodyPr wrap="square" lIns="0" tIns="0" rIns="0" bIns="0" rtlCol="0" anchor="t"/>
          <a:lstStyle/>
          <a:p>
            <a:pPr indent="0" marL="0">
              <a:spcAft>
                <a:spcPts val="600"/>
              </a:spcAft>
              <a:buNone/>
            </a:pPr>
            <a:r>
              <a:rPr lang="en-US" sz="1500" dirty="0">
                <a:solidFill>
                  <a:schemeClr val="bg2"/>
                </a:solidFill>
              </a:rPr>
              <a:t>Ninguna diferencia a favor del RL</a:t>
            </a:r>
            <a:endParaRPr lang="en-US" sz="1500" dirty="0"/>
          </a:p>
        </p:txBody>
      </p:sp>
      <p:sp>
        <p:nvSpPr>
          <p:cNvPr id="9" name="conclusion numero 2"/>
          <p:cNvSpPr txBox="1"/>
          <p:nvPr/>
        </p:nvSpPr>
        <p:spPr>
          <a:xfrm>
            <a:off x="548640" y="3611880"/>
            <a:ext cx="548640" cy="914400"/>
          </a:xfrm>
          <a:prstGeom prst="rect">
            <a:avLst/>
          </a:prstGeom>
          <a:noFill/>
          <a:ln/>
        </p:spPr>
        <p:txBody>
          <a:bodyPr wrap="square" lIns="0" tIns="0" rIns="0" bIns="0" rtlCol="0" anchor="ctr"/>
          <a:lstStyle/>
          <a:p>
            <a:pPr indent="0" marL="0">
              <a:buNone/>
            </a:pPr>
            <a:r>
              <a:rPr lang="en-US" sz="3200" b="1" dirty="0">
                <a:solidFill>
                  <a:srgbClr val="FF6B6B"/>
                </a:solidFill>
              </a:rPr>
              <a:t>3</a:t>
            </a:r>
            <a:endParaRPr lang="en-US" sz="3200" dirty="0"/>
          </a:p>
        </p:txBody>
      </p:sp>
      <p:sp>
        <p:nvSpPr>
          <p:cNvPr id="10" name="conclusion 2"/>
          <p:cNvSpPr txBox="1"/>
          <p:nvPr/>
        </p:nvSpPr>
        <p:spPr>
          <a:xfrm>
            <a:off x="1234440" y="3657600"/>
            <a:ext cx="6035040" cy="411480"/>
          </a:xfrm>
          <a:prstGeom prst="rect">
            <a:avLst/>
          </a:prstGeom>
          <a:noFill/>
          <a:ln/>
        </p:spPr>
        <p:txBody>
          <a:bodyPr wrap="square" lIns="0" tIns="0" rIns="0" bIns="0" rtlCol="0" anchor="t"/>
          <a:lstStyle/>
          <a:p>
            <a:pPr indent="0" marL="0">
              <a:spcAft>
                <a:spcPts val="600"/>
              </a:spcAft>
              <a:buNone/>
            </a:pPr>
            <a:r>
              <a:rPr lang="en-US" sz="1900" b="1" dirty="0">
                <a:solidFill>
                  <a:schemeClr val="bg1"/>
                </a:solidFill>
              </a:rPr>
              <a:t>Se degrada fuera de lo entrenado</a:t>
            </a:r>
            <a:endParaRPr lang="en-US" sz="1900" dirty="0"/>
          </a:p>
        </p:txBody>
      </p:sp>
      <p:sp>
        <p:nvSpPr>
          <p:cNvPr id="11" name="conclusion texto 2"/>
          <p:cNvSpPr txBox="1"/>
          <p:nvPr/>
        </p:nvSpPr>
        <p:spPr>
          <a:xfrm>
            <a:off x="1234440" y="4087368"/>
            <a:ext cx="6035040" cy="411480"/>
          </a:xfrm>
          <a:prstGeom prst="rect">
            <a:avLst/>
          </a:prstGeom>
          <a:noFill/>
          <a:ln/>
        </p:spPr>
        <p:txBody>
          <a:bodyPr wrap="square" lIns="0" tIns="0" rIns="0" bIns="0" rtlCol="0" anchor="t"/>
          <a:lstStyle/>
          <a:p>
            <a:pPr indent="0" marL="0">
              <a:spcAft>
                <a:spcPts val="600"/>
              </a:spcAft>
              <a:buNone/>
            </a:pPr>
            <a:r>
              <a:rPr lang="en-US" sz="1500" dirty="0">
                <a:solidFill>
                  <a:schemeClr val="bg2"/>
                </a:solidFill>
              </a:rPr>
              <a:t>Con +30 % de demanda, MAPPO queda peor que el fijo</a:t>
            </a:r>
            <a:endParaRPr lang="en-US" sz="1500" dirty="0"/>
          </a:p>
        </p:txBody>
      </p:sp>
      <p:sp>
        <p:nvSpPr>
          <p:cNvPr id="12" name="conclusion numero 3"/>
          <p:cNvSpPr txBox="1"/>
          <p:nvPr/>
        </p:nvSpPr>
        <p:spPr>
          <a:xfrm>
            <a:off x="548640" y="4709160"/>
            <a:ext cx="548640" cy="914400"/>
          </a:xfrm>
          <a:prstGeom prst="rect">
            <a:avLst/>
          </a:prstGeom>
          <a:noFill/>
          <a:ln/>
        </p:spPr>
        <p:txBody>
          <a:bodyPr wrap="square" lIns="0" tIns="0" rIns="0" bIns="0" rtlCol="0" anchor="ctr"/>
          <a:lstStyle/>
          <a:p>
            <a:pPr indent="0" marL="0">
              <a:buNone/>
            </a:pPr>
            <a:r>
              <a:rPr lang="en-US" sz="3200" b="1" dirty="0">
                <a:solidFill>
                  <a:srgbClr val="FF9F43"/>
                </a:solidFill>
              </a:rPr>
              <a:t>4</a:t>
            </a:r>
            <a:endParaRPr lang="en-US" sz="3200" dirty="0"/>
          </a:p>
        </p:txBody>
      </p:sp>
      <p:sp>
        <p:nvSpPr>
          <p:cNvPr id="13" name="conclusion 3"/>
          <p:cNvSpPr txBox="1"/>
          <p:nvPr/>
        </p:nvSpPr>
        <p:spPr>
          <a:xfrm>
            <a:off x="1234440" y="4754880"/>
            <a:ext cx="6035040" cy="411480"/>
          </a:xfrm>
          <a:prstGeom prst="rect">
            <a:avLst/>
          </a:prstGeom>
          <a:noFill/>
          <a:ln/>
        </p:spPr>
        <p:txBody>
          <a:bodyPr wrap="square" lIns="0" tIns="0" rIns="0" bIns="0" rtlCol="0" anchor="t"/>
          <a:lstStyle/>
          <a:p>
            <a:pPr indent="0" marL="0">
              <a:spcAft>
                <a:spcPts val="600"/>
              </a:spcAft>
              <a:buNone/>
            </a:pPr>
            <a:r>
              <a:rPr lang="en-US" sz="1900" b="1" dirty="0">
                <a:solidFill>
                  <a:schemeClr val="bg1"/>
                </a:solidFill>
              </a:rPr>
              <a:t>Medir bien cambia la conclusión</a:t>
            </a:r>
            <a:endParaRPr lang="en-US" sz="1900" dirty="0"/>
          </a:p>
        </p:txBody>
      </p:sp>
      <p:sp>
        <p:nvSpPr>
          <p:cNvPr id="14" name="conclusion texto 3"/>
          <p:cNvSpPr txBox="1"/>
          <p:nvPr/>
        </p:nvSpPr>
        <p:spPr>
          <a:xfrm>
            <a:off x="1234440" y="5184648"/>
            <a:ext cx="6035040" cy="411480"/>
          </a:xfrm>
          <a:prstGeom prst="rect">
            <a:avLst/>
          </a:prstGeom>
          <a:noFill/>
          <a:ln/>
        </p:spPr>
        <p:txBody>
          <a:bodyPr wrap="square" lIns="0" tIns="0" rIns="0" bIns="0" rtlCol="0" anchor="t"/>
          <a:lstStyle/>
          <a:p>
            <a:pPr indent="0" marL="0">
              <a:spcAft>
                <a:spcPts val="600"/>
              </a:spcAft>
              <a:buNone/>
            </a:pPr>
            <a:r>
              <a:rPr lang="en-US" sz="1500" dirty="0">
                <a:solidFill>
                  <a:schemeClr val="bg2"/>
                </a:solidFill>
              </a:rPr>
              <a:t>Demora total en lugar de espera media</a:t>
            </a:r>
            <a:endParaRPr lang="en-US" sz="1500" dirty="0"/>
          </a:p>
        </p:txBody>
      </p:sp>
      <p:sp>
        <p:nvSpPr>
          <p:cNvPr id="15" name="tarjeta futuro"/>
          <p:cNvSpPr/>
          <p:nvPr/>
        </p:nvSpPr>
        <p:spPr>
          <a:xfrm>
            <a:off x="7589520" y="1417320"/>
            <a:ext cx="4050792" cy="4343400"/>
          </a:xfrm>
          <a:prstGeom prst="roundRect">
            <a:avLst>
              <a:gd name="adj" fmla="val 2709"/>
            </a:avLst>
          </a:prstGeom>
          <a:solidFill>
            <a:schemeClr val="tx2"/>
          </a:solidFill>
          <a:ln w="9525">
            <a:solidFill>
              <a:schemeClr val="accent6"/>
            </a:solidFill>
            <a:prstDash val="solid"/>
          </a:ln>
        </p:spPr>
      </p:sp>
      <p:sp>
        <p:nvSpPr>
          <p:cNvPr id="16" name="punto Trabajo futuro"/>
          <p:cNvSpPr/>
          <p:nvPr/>
        </p:nvSpPr>
        <p:spPr>
          <a:xfrm>
            <a:off x="7818120" y="1728216"/>
            <a:ext cx="201168" cy="201168"/>
          </a:xfrm>
          <a:prstGeom prst="ellipse">
            <a:avLst/>
          </a:prstGeom>
          <a:solidFill>
            <a:srgbClr val="2EE6A6"/>
          </a:solidFill>
          <a:ln w="12700">
            <a:solidFill>
              <a:srgbClr val="2EE6A6"/>
            </a:solidFill>
            <a:prstDash val="solid"/>
          </a:ln>
        </p:spPr>
      </p:sp>
      <p:sp>
        <p:nvSpPr>
          <p:cNvPr id="17" name="encabezado Trabajo futuro"/>
          <p:cNvSpPr txBox="1"/>
          <p:nvPr/>
        </p:nvSpPr>
        <p:spPr>
          <a:xfrm>
            <a:off x="8138160" y="1645920"/>
            <a:ext cx="3337560" cy="365760"/>
          </a:xfrm>
          <a:prstGeom prst="rect">
            <a:avLst/>
          </a:prstGeom>
          <a:noFill/>
          <a:ln/>
        </p:spPr>
        <p:txBody>
          <a:bodyPr wrap="square" lIns="0" tIns="0" rIns="0" bIns="0" rtlCol="0" anchor="ctr"/>
          <a:lstStyle/>
          <a:p>
            <a:pPr indent="0" marL="0">
              <a:buNone/>
            </a:pPr>
            <a:r>
              <a:rPr lang="en-US" sz="2000" b="1" dirty="0">
                <a:solidFill>
                  <a:schemeClr val="bg1"/>
                </a:solidFill>
              </a:rPr>
              <a:t>Trabajo futuro</a:t>
            </a:r>
            <a:endParaRPr lang="en-US" sz="2000" dirty="0"/>
          </a:p>
        </p:txBody>
      </p:sp>
      <p:sp>
        <p:nvSpPr>
          <p:cNvPr id="18" name="futuro lista"/>
          <p:cNvSpPr txBox="1"/>
          <p:nvPr/>
        </p:nvSpPr>
        <p:spPr>
          <a:xfrm>
            <a:off x="7863840" y="2194560"/>
            <a:ext cx="3611880" cy="34747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Conteos reales en video y ciclos cronometrados</a:t>
            </a:r>
            <a:endParaRPr lang="en-US" sz="1600" dirty="0"/>
          </a:p>
          <a:p>
            <a:pPr marL="228600" indent="-228600">
              <a:spcAft>
                <a:spcPts val="1000"/>
              </a:spcAft>
              <a:buSzPct val="100000"/>
              <a:buChar char="•"/>
            </a:pPr>
            <a:r>
              <a:rPr lang="en-US" sz="1600" dirty="0">
                <a:solidFill>
                  <a:schemeClr val="bg1"/>
                </a:solidFill>
              </a:rPr>
              <a:t>Peatones, buses y motos</a:t>
            </a:r>
            <a:endParaRPr lang="en-US" sz="1600" dirty="0"/>
          </a:p>
          <a:p>
            <a:pPr marL="228600" indent="-228600">
              <a:spcAft>
                <a:spcPts val="1000"/>
              </a:spcAft>
              <a:buSzPct val="100000"/>
              <a:buChar char="•"/>
            </a:pPr>
            <a:r>
              <a:rPr lang="en-US" sz="1600" dirty="0">
                <a:solidFill>
                  <a:schemeClr val="bg1"/>
                </a:solidFill>
              </a:rPr>
              <a:t>Más semillas y demanda variable</a:t>
            </a:r>
            <a:endParaRPr lang="en-US" sz="1600" dirty="0"/>
          </a:p>
          <a:p>
            <a:pPr marL="228600" indent="-228600">
              <a:spcAft>
                <a:spcPts val="1000"/>
              </a:spcAft>
              <a:buSzPct val="100000"/>
              <a:buChar char="•"/>
            </a:pPr>
            <a:r>
              <a:rPr lang="en-US" sz="1600" dirty="0">
                <a:solidFill>
                  <a:schemeClr val="bg1"/>
                </a:solidFill>
              </a:rPr>
              <a:t>Max-pressure como respaldo (aprendizaje residual)</a:t>
            </a:r>
            <a:endParaRPr lang="en-US" sz="16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indent="0" marL="0">
              <a:buNone/>
            </a:pPr>
            <a:r>
              <a:rPr lang="en-US" sz="3000" b="1" dirty="0">
                <a:solidFill>
                  <a:schemeClr val="bg1"/>
                </a:solidFill>
                <a:latin typeface="Arial" pitchFamily="34" charset="0"/>
                <a:ea typeface="Arial" pitchFamily="34" charset="-122"/>
                <a:cs typeface="Arial" pitchFamily="34" charset="-120"/>
              </a:rPr>
              <a:t>Declaración del uso de IA</a:t>
            </a:r>
            <a:endParaRPr lang="en-US" sz="3000" dirty="0"/>
          </a:p>
        </p:txBody>
      </p:sp>
      <p:sp>
        <p:nvSpPr>
          <p:cNvPr id="3" name="tarjeta herramienta"/>
          <p:cNvSpPr/>
          <p:nvPr/>
        </p:nvSpPr>
        <p:spPr>
          <a:xfrm>
            <a:off x="548640" y="1417320"/>
            <a:ext cx="6675120" cy="2880360"/>
          </a:xfrm>
          <a:prstGeom prst="roundRect">
            <a:avLst>
              <a:gd name="adj" fmla="val 3810"/>
            </a:avLst>
          </a:prstGeom>
          <a:solidFill>
            <a:schemeClr val="tx2"/>
          </a:solidFill>
          <a:ln w="9525">
            <a:solidFill>
              <a:schemeClr val="accent6"/>
            </a:solidFill>
            <a:prstDash val="solid"/>
          </a:ln>
        </p:spPr>
      </p:sp>
      <p:sp>
        <p:nvSpPr>
          <p:cNvPr id="4" name="punto Claude Code (Anthropic)"/>
          <p:cNvSpPr/>
          <p:nvPr/>
        </p:nvSpPr>
        <p:spPr>
          <a:xfrm>
            <a:off x="822960" y="1728216"/>
            <a:ext cx="201168" cy="201168"/>
          </a:xfrm>
          <a:prstGeom prst="ellipse">
            <a:avLst/>
          </a:prstGeom>
          <a:solidFill>
            <a:srgbClr val="2EE6A6"/>
          </a:solidFill>
          <a:ln w="12700">
            <a:solidFill>
              <a:srgbClr val="2EE6A6"/>
            </a:solidFill>
            <a:prstDash val="solid"/>
          </a:ln>
        </p:spPr>
      </p:sp>
      <p:sp>
        <p:nvSpPr>
          <p:cNvPr id="5" name="encabezado Claude Code (Anthropic)"/>
          <p:cNvSpPr txBox="1"/>
          <p:nvPr/>
        </p:nvSpPr>
        <p:spPr>
          <a:xfrm>
            <a:off x="1143000" y="1645920"/>
            <a:ext cx="5897880" cy="365760"/>
          </a:xfrm>
          <a:prstGeom prst="rect">
            <a:avLst/>
          </a:prstGeom>
          <a:noFill/>
          <a:ln/>
        </p:spPr>
        <p:txBody>
          <a:bodyPr wrap="square" lIns="0" tIns="0" rIns="0" bIns="0" rtlCol="0" anchor="ctr"/>
          <a:lstStyle/>
          <a:p>
            <a:pPr indent="0" marL="0">
              <a:buNone/>
            </a:pPr>
            <a:r>
              <a:rPr lang="en-US" sz="2000" b="1" dirty="0">
                <a:solidFill>
                  <a:schemeClr val="bg1"/>
                </a:solidFill>
              </a:rPr>
              <a:t>Claude Code (Anthropic)</a:t>
            </a:r>
            <a:endParaRPr lang="en-US" sz="2000" dirty="0"/>
          </a:p>
        </p:txBody>
      </p:sp>
      <p:sp>
        <p:nvSpPr>
          <p:cNvPr id="6" name="uso lista"/>
          <p:cNvSpPr txBox="1"/>
          <p:nvPr/>
        </p:nvSpPr>
        <p:spPr>
          <a:xfrm>
            <a:off x="914400" y="2194560"/>
            <a:ext cx="6126480" cy="201168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chemeClr val="bg1"/>
                </a:solidFill>
              </a:rPr>
              <a:t>Plan del proyecto y contratos entre módulos</a:t>
            </a:r>
            <a:endParaRPr lang="en-US" sz="1800" dirty="0"/>
          </a:p>
          <a:p>
            <a:pPr marL="228600" indent="-228600">
              <a:spcAft>
                <a:spcPts val="1000"/>
              </a:spcAft>
              <a:buSzPct val="100000"/>
              <a:buChar char="•"/>
            </a:pPr>
            <a:r>
              <a:rPr lang="en-US" sz="1800" dirty="0">
                <a:solidFill>
                  <a:schemeClr val="bg1"/>
                </a:solidFill>
              </a:rPr>
              <a:t>Código, pruebas y análisis, con agentes en ramas paralelas</a:t>
            </a:r>
            <a:endParaRPr lang="en-US" sz="1800" dirty="0"/>
          </a:p>
          <a:p>
            <a:pPr marL="228600" indent="-228600">
              <a:spcAft>
                <a:spcPts val="1000"/>
              </a:spcAft>
              <a:buSzPct val="100000"/>
              <a:buChar char="•"/>
            </a:pPr>
            <a:r>
              <a:rPr lang="en-US" sz="1800" dirty="0">
                <a:solidFill>
                  <a:schemeClr val="bg1"/>
                </a:solidFill>
              </a:rPr>
              <a:t>Borradores del informe y de esta presentación</a:t>
            </a:r>
            <a:endParaRPr lang="en-US" sz="1800" dirty="0"/>
          </a:p>
        </p:txBody>
      </p:sp>
      <p:sp>
        <p:nvSpPr>
          <p:cNvPr id="7" name="tarjeta responsabilidad"/>
          <p:cNvSpPr/>
          <p:nvPr/>
        </p:nvSpPr>
        <p:spPr>
          <a:xfrm>
            <a:off x="7452360" y="1417320"/>
            <a:ext cx="4187952" cy="2880360"/>
          </a:xfrm>
          <a:prstGeom prst="roundRect">
            <a:avLst>
              <a:gd name="adj" fmla="val 3810"/>
            </a:avLst>
          </a:prstGeom>
          <a:solidFill>
            <a:schemeClr val="tx2"/>
          </a:solidFill>
          <a:ln w="9525">
            <a:solidFill>
              <a:schemeClr val="accent6"/>
            </a:solidFill>
            <a:prstDash val="solid"/>
          </a:ln>
        </p:spPr>
      </p:sp>
      <p:sp>
        <p:nvSpPr>
          <p:cNvPr id="8" name="punto Responsabilidad"/>
          <p:cNvSpPr/>
          <p:nvPr/>
        </p:nvSpPr>
        <p:spPr>
          <a:xfrm>
            <a:off x="7680960" y="1728216"/>
            <a:ext cx="201168" cy="201168"/>
          </a:xfrm>
          <a:prstGeom prst="ellipse">
            <a:avLst/>
          </a:prstGeom>
          <a:solidFill>
            <a:srgbClr val="FF9F43"/>
          </a:solidFill>
          <a:ln w="12700">
            <a:solidFill>
              <a:srgbClr val="FF9F43"/>
            </a:solidFill>
            <a:prstDash val="solid"/>
          </a:ln>
        </p:spPr>
      </p:sp>
      <p:sp>
        <p:nvSpPr>
          <p:cNvPr id="9" name="encabezado Responsabilidad"/>
          <p:cNvSpPr txBox="1"/>
          <p:nvPr/>
        </p:nvSpPr>
        <p:spPr>
          <a:xfrm>
            <a:off x="8001000" y="1645920"/>
            <a:ext cx="3429000" cy="365760"/>
          </a:xfrm>
          <a:prstGeom prst="rect">
            <a:avLst/>
          </a:prstGeom>
          <a:noFill/>
          <a:ln/>
        </p:spPr>
        <p:txBody>
          <a:bodyPr wrap="square" lIns="0" tIns="0" rIns="0" bIns="0" rtlCol="0" anchor="ctr"/>
          <a:lstStyle/>
          <a:p>
            <a:pPr indent="0" marL="0">
              <a:buNone/>
            </a:pPr>
            <a:r>
              <a:rPr lang="en-US" sz="2000" b="1" dirty="0">
                <a:solidFill>
                  <a:schemeClr val="bg1"/>
                </a:solidFill>
              </a:rPr>
              <a:t>Responsabilidad</a:t>
            </a:r>
            <a:endParaRPr lang="en-US" sz="2000" dirty="0"/>
          </a:p>
        </p:txBody>
      </p:sp>
      <p:sp>
        <p:nvSpPr>
          <p:cNvPr id="10" name="responsabilidad texto"/>
          <p:cNvSpPr txBox="1"/>
          <p:nvPr/>
        </p:nvSpPr>
        <p:spPr>
          <a:xfrm>
            <a:off x="7726680" y="2194560"/>
            <a:ext cx="3657600" cy="914400"/>
          </a:xfrm>
          <a:prstGeom prst="rect">
            <a:avLst/>
          </a:prstGeom>
          <a:noFill/>
          <a:ln/>
        </p:spPr>
        <p:txBody>
          <a:bodyPr wrap="square" lIns="0" tIns="0" rIns="0" bIns="0" rtlCol="0" anchor="t"/>
          <a:lstStyle/>
          <a:p>
            <a:pPr indent="0" marL="0">
              <a:spcAft>
                <a:spcPts val="600"/>
              </a:spcAft>
              <a:buNone/>
            </a:pPr>
            <a:r>
              <a:rPr lang="en-US" sz="1800" dirty="0">
                <a:solidFill>
                  <a:schemeClr val="bg1"/>
                </a:solidFill>
              </a:rPr>
              <a:t>El equipo revisó el código y los números, y responde por ellos.</a:t>
            </a:r>
            <a:endParaRPr lang="en-US" sz="1800" dirty="0"/>
          </a:p>
        </p:txBody>
      </p:sp>
      <p:sp>
        <p:nvSpPr>
          <p:cNvPr id="11" name="responsabilidad pendiente"/>
          <p:cNvSpPr txBox="1"/>
          <p:nvPr/>
        </p:nvSpPr>
        <p:spPr>
          <a:xfrm>
            <a:off x="7726680" y="3291840"/>
            <a:ext cx="3657600" cy="822960"/>
          </a:xfrm>
          <a:prstGeom prst="rect">
            <a:avLst/>
          </a:prstGeom>
          <a:noFill/>
          <a:ln/>
        </p:spPr>
        <p:txBody>
          <a:bodyPr wrap="square" lIns="0" tIns="0" rIns="0" bIns="0" rtlCol="0" anchor="t"/>
          <a:lstStyle/>
          <a:p>
            <a:pPr indent="0" marL="0">
              <a:spcAft>
                <a:spcPts val="600"/>
              </a:spcAft>
              <a:buNone/>
            </a:pPr>
            <a:r>
              <a:rPr lang="en-US" sz="1600" dirty="0">
                <a:solidFill>
                  <a:schemeClr val="accent2"/>
                </a:solidFill>
              </a:rPr>
              <a:t>&lt;completar: qué se verificó a mano&gt;</a:t>
            </a:r>
            <a:endParaRPr lang="en-US" sz="1600" dirty="0"/>
          </a:p>
        </p:txBody>
      </p:sp>
      <p:sp>
        <p:nvSpPr>
          <p:cNvPr id="12" name="flujo Plan"/>
          <p:cNvSpPr/>
          <p:nvPr/>
        </p:nvSpPr>
        <p:spPr>
          <a:xfrm>
            <a:off x="548640" y="4572000"/>
            <a:ext cx="2606040" cy="1097280"/>
          </a:xfrm>
          <a:prstGeom prst="roundRect">
            <a:avLst>
              <a:gd name="adj" fmla="val 10000"/>
            </a:avLst>
          </a:prstGeom>
          <a:solidFill>
            <a:schemeClr val="tx2"/>
          </a:solidFill>
          <a:ln w="9525">
            <a:solidFill>
              <a:schemeClr val="accent6"/>
            </a:solidFill>
            <a:prstDash val="solid"/>
          </a:ln>
        </p:spPr>
      </p:sp>
      <p:sp>
        <p:nvSpPr>
          <p:cNvPr id="13" name="punto"/>
          <p:cNvSpPr/>
          <p:nvPr/>
        </p:nvSpPr>
        <p:spPr>
          <a:xfrm>
            <a:off x="822960" y="5020056"/>
            <a:ext cx="201168" cy="201168"/>
          </a:xfrm>
          <a:prstGeom prst="ellipse">
            <a:avLst/>
          </a:prstGeom>
          <a:solidFill>
            <a:srgbClr val="2EE6A6"/>
          </a:solidFill>
          <a:ln w="12700">
            <a:solidFill>
              <a:srgbClr val="2EE6A6"/>
            </a:solidFill>
            <a:prstDash val="solid"/>
          </a:ln>
        </p:spPr>
      </p:sp>
      <p:sp>
        <p:nvSpPr>
          <p:cNvPr id="14" name="flujo texto Plan"/>
          <p:cNvSpPr txBox="1"/>
          <p:nvPr/>
        </p:nvSpPr>
        <p:spPr>
          <a:xfrm>
            <a:off x="1188720" y="4572000"/>
            <a:ext cx="1874520" cy="1097280"/>
          </a:xfrm>
          <a:prstGeom prst="rect">
            <a:avLst/>
          </a:prstGeom>
          <a:noFill/>
          <a:ln/>
        </p:spPr>
        <p:txBody>
          <a:bodyPr wrap="square" lIns="0" tIns="0" rIns="0" bIns="0" rtlCol="0" anchor="ctr"/>
          <a:lstStyle/>
          <a:p>
            <a:pPr indent="0" marL="0">
              <a:spcAft>
                <a:spcPts val="600"/>
              </a:spcAft>
              <a:buNone/>
            </a:pPr>
            <a:r>
              <a:rPr lang="en-US" sz="1700" b="1" dirty="0">
                <a:solidFill>
                  <a:schemeClr val="bg1"/>
                </a:solidFill>
              </a:rPr>
              <a:t>Plan</a:t>
            </a:r>
            <a:endParaRPr lang="en-US" sz="1700" dirty="0"/>
          </a:p>
        </p:txBody>
      </p:sp>
      <p:sp>
        <p:nvSpPr>
          <p:cNvPr id="15" name="flecha flujo 0"/>
          <p:cNvSpPr/>
          <p:nvPr/>
        </p:nvSpPr>
        <p:spPr>
          <a:xfrm>
            <a:off x="3191256" y="5001768"/>
            <a:ext cx="146304" cy="237744"/>
          </a:xfrm>
          <a:prstGeom prst="chevron">
            <a:avLst/>
          </a:prstGeom>
          <a:solidFill>
            <a:schemeClr val="accent6"/>
          </a:solidFill>
          <a:ln w="12700">
            <a:solidFill>
              <a:schemeClr val="accent6"/>
            </a:solidFill>
            <a:prstDash val="solid"/>
          </a:ln>
        </p:spPr>
      </p:sp>
      <p:sp>
        <p:nvSpPr>
          <p:cNvPr id="16" name="flujo Ramas en paralelo"/>
          <p:cNvSpPr/>
          <p:nvPr/>
        </p:nvSpPr>
        <p:spPr>
          <a:xfrm>
            <a:off x="3364992" y="4572000"/>
            <a:ext cx="2606040" cy="1097280"/>
          </a:xfrm>
          <a:prstGeom prst="roundRect">
            <a:avLst>
              <a:gd name="adj" fmla="val 10000"/>
            </a:avLst>
          </a:prstGeom>
          <a:solidFill>
            <a:schemeClr val="tx2"/>
          </a:solidFill>
          <a:ln w="9525">
            <a:solidFill>
              <a:schemeClr val="accent6"/>
            </a:solidFill>
            <a:prstDash val="solid"/>
          </a:ln>
        </p:spPr>
      </p:sp>
      <p:sp>
        <p:nvSpPr>
          <p:cNvPr id="17" name="punto"/>
          <p:cNvSpPr/>
          <p:nvPr/>
        </p:nvSpPr>
        <p:spPr>
          <a:xfrm>
            <a:off x="3639312" y="5020056"/>
            <a:ext cx="201168" cy="201168"/>
          </a:xfrm>
          <a:prstGeom prst="ellipse">
            <a:avLst/>
          </a:prstGeom>
          <a:solidFill>
            <a:srgbClr val="2EE6A6"/>
          </a:solidFill>
          <a:ln w="12700">
            <a:solidFill>
              <a:srgbClr val="2EE6A6"/>
            </a:solidFill>
            <a:prstDash val="solid"/>
          </a:ln>
        </p:spPr>
      </p:sp>
      <p:sp>
        <p:nvSpPr>
          <p:cNvPr id="18" name="flujo texto Ramas en paralelo"/>
          <p:cNvSpPr txBox="1"/>
          <p:nvPr/>
        </p:nvSpPr>
        <p:spPr>
          <a:xfrm>
            <a:off x="4005072" y="4572000"/>
            <a:ext cx="1874520" cy="1097280"/>
          </a:xfrm>
          <a:prstGeom prst="rect">
            <a:avLst/>
          </a:prstGeom>
          <a:noFill/>
          <a:ln/>
        </p:spPr>
        <p:txBody>
          <a:bodyPr wrap="square" lIns="0" tIns="0" rIns="0" bIns="0" rtlCol="0" anchor="ctr"/>
          <a:lstStyle/>
          <a:p>
            <a:pPr indent="0" marL="0">
              <a:spcAft>
                <a:spcPts val="600"/>
              </a:spcAft>
              <a:buNone/>
            </a:pPr>
            <a:r>
              <a:rPr lang="en-US" sz="1700" b="1" dirty="0">
                <a:solidFill>
                  <a:schemeClr val="bg1"/>
                </a:solidFill>
              </a:rPr>
              <a:t>Ramas en paralelo</a:t>
            </a:r>
            <a:endParaRPr lang="en-US" sz="1700" dirty="0"/>
          </a:p>
        </p:txBody>
      </p:sp>
      <p:sp>
        <p:nvSpPr>
          <p:cNvPr id="19" name="flecha flujo 1"/>
          <p:cNvSpPr/>
          <p:nvPr/>
        </p:nvSpPr>
        <p:spPr>
          <a:xfrm>
            <a:off x="6007608" y="5001768"/>
            <a:ext cx="146304" cy="237744"/>
          </a:xfrm>
          <a:prstGeom prst="chevron">
            <a:avLst/>
          </a:prstGeom>
          <a:solidFill>
            <a:schemeClr val="accent6"/>
          </a:solidFill>
          <a:ln w="12700">
            <a:solidFill>
              <a:schemeClr val="accent6"/>
            </a:solidFill>
            <a:prstDash val="solid"/>
          </a:ln>
        </p:spPr>
      </p:sp>
      <p:sp>
        <p:nvSpPr>
          <p:cNvPr id="20" name="flujo Pruebas automáticas"/>
          <p:cNvSpPr/>
          <p:nvPr/>
        </p:nvSpPr>
        <p:spPr>
          <a:xfrm>
            <a:off x="6181344" y="4572000"/>
            <a:ext cx="2606040" cy="1097280"/>
          </a:xfrm>
          <a:prstGeom prst="roundRect">
            <a:avLst>
              <a:gd name="adj" fmla="val 10000"/>
            </a:avLst>
          </a:prstGeom>
          <a:solidFill>
            <a:schemeClr val="tx2"/>
          </a:solidFill>
          <a:ln w="9525">
            <a:solidFill>
              <a:schemeClr val="accent6"/>
            </a:solidFill>
            <a:prstDash val="solid"/>
          </a:ln>
        </p:spPr>
      </p:sp>
      <p:sp>
        <p:nvSpPr>
          <p:cNvPr id="21" name="punto"/>
          <p:cNvSpPr/>
          <p:nvPr/>
        </p:nvSpPr>
        <p:spPr>
          <a:xfrm>
            <a:off x="6455664" y="5020056"/>
            <a:ext cx="201168" cy="201168"/>
          </a:xfrm>
          <a:prstGeom prst="ellipse">
            <a:avLst/>
          </a:prstGeom>
          <a:solidFill>
            <a:srgbClr val="2EE6A6"/>
          </a:solidFill>
          <a:ln w="12700">
            <a:solidFill>
              <a:srgbClr val="2EE6A6"/>
            </a:solidFill>
            <a:prstDash val="solid"/>
          </a:ln>
        </p:spPr>
      </p:sp>
      <p:sp>
        <p:nvSpPr>
          <p:cNvPr id="22" name="flujo texto Pruebas automáticas"/>
          <p:cNvSpPr txBox="1"/>
          <p:nvPr/>
        </p:nvSpPr>
        <p:spPr>
          <a:xfrm>
            <a:off x="6821424" y="4572000"/>
            <a:ext cx="1874520" cy="1097280"/>
          </a:xfrm>
          <a:prstGeom prst="rect">
            <a:avLst/>
          </a:prstGeom>
          <a:noFill/>
          <a:ln/>
        </p:spPr>
        <p:txBody>
          <a:bodyPr wrap="square" lIns="0" tIns="0" rIns="0" bIns="0" rtlCol="0" anchor="ctr"/>
          <a:lstStyle/>
          <a:p>
            <a:pPr indent="0" marL="0">
              <a:spcAft>
                <a:spcPts val="600"/>
              </a:spcAft>
              <a:buNone/>
            </a:pPr>
            <a:r>
              <a:rPr lang="en-US" sz="1700" b="1" dirty="0">
                <a:solidFill>
                  <a:schemeClr val="bg1"/>
                </a:solidFill>
              </a:rPr>
              <a:t>Pruebas automáticas</a:t>
            </a:r>
            <a:endParaRPr lang="en-US" sz="1700" dirty="0"/>
          </a:p>
        </p:txBody>
      </p:sp>
      <p:sp>
        <p:nvSpPr>
          <p:cNvPr id="23" name="flecha flujo 2"/>
          <p:cNvSpPr/>
          <p:nvPr/>
        </p:nvSpPr>
        <p:spPr>
          <a:xfrm>
            <a:off x="8823960" y="5001768"/>
            <a:ext cx="146304" cy="237744"/>
          </a:xfrm>
          <a:prstGeom prst="chevron">
            <a:avLst/>
          </a:prstGeom>
          <a:solidFill>
            <a:schemeClr val="accent6"/>
          </a:solidFill>
          <a:ln w="12700">
            <a:solidFill>
              <a:schemeClr val="accent6"/>
            </a:solidFill>
            <a:prstDash val="solid"/>
          </a:ln>
        </p:spPr>
      </p:sp>
      <p:sp>
        <p:nvSpPr>
          <p:cNvPr id="24" name="flujo Revisión humana"/>
          <p:cNvSpPr/>
          <p:nvPr/>
        </p:nvSpPr>
        <p:spPr>
          <a:xfrm>
            <a:off x="8997696" y="4572000"/>
            <a:ext cx="2606040" cy="1097280"/>
          </a:xfrm>
          <a:prstGeom prst="roundRect">
            <a:avLst>
              <a:gd name="adj" fmla="val 10000"/>
            </a:avLst>
          </a:prstGeom>
          <a:solidFill>
            <a:schemeClr val="tx2"/>
          </a:solidFill>
          <a:ln w="9525">
            <a:solidFill>
              <a:schemeClr val="accent6"/>
            </a:solidFill>
            <a:prstDash val="solid"/>
          </a:ln>
        </p:spPr>
      </p:sp>
      <p:sp>
        <p:nvSpPr>
          <p:cNvPr id="25" name="punto"/>
          <p:cNvSpPr/>
          <p:nvPr/>
        </p:nvSpPr>
        <p:spPr>
          <a:xfrm>
            <a:off x="9272016" y="5020056"/>
            <a:ext cx="201168" cy="201168"/>
          </a:xfrm>
          <a:prstGeom prst="ellipse">
            <a:avLst/>
          </a:prstGeom>
          <a:solidFill>
            <a:srgbClr val="FF9F43"/>
          </a:solidFill>
          <a:ln w="12700">
            <a:solidFill>
              <a:srgbClr val="FF9F43"/>
            </a:solidFill>
            <a:prstDash val="solid"/>
          </a:ln>
        </p:spPr>
      </p:sp>
      <p:sp>
        <p:nvSpPr>
          <p:cNvPr id="26" name="flujo texto Revisión humana"/>
          <p:cNvSpPr txBox="1"/>
          <p:nvPr/>
        </p:nvSpPr>
        <p:spPr>
          <a:xfrm>
            <a:off x="9637776" y="4572000"/>
            <a:ext cx="1874520" cy="1097280"/>
          </a:xfrm>
          <a:prstGeom prst="rect">
            <a:avLst/>
          </a:prstGeom>
          <a:noFill/>
          <a:ln/>
        </p:spPr>
        <p:txBody>
          <a:bodyPr wrap="square" lIns="0" tIns="0" rIns="0" bIns="0" rtlCol="0" anchor="ctr"/>
          <a:lstStyle/>
          <a:p>
            <a:pPr indent="0" marL="0">
              <a:spcAft>
                <a:spcPts val="600"/>
              </a:spcAft>
              <a:buNone/>
            </a:pPr>
            <a:r>
              <a:rPr lang="en-US" sz="1700" b="1" dirty="0">
                <a:solidFill>
                  <a:schemeClr val="bg1"/>
                </a:solidFill>
              </a:rPr>
              <a:t>Revisión humana</a:t>
            </a:r>
            <a:endParaRPr lang="en-US" sz="17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preguntas"/>
          <p:cNvSpPr txBox="1"/>
          <p:nvPr/>
        </p:nvSpPr>
        <p:spPr>
          <a:xfrm>
            <a:off x="731520" y="2011680"/>
            <a:ext cx="8229600" cy="1280160"/>
          </a:xfrm>
          <a:prstGeom prst="rect">
            <a:avLst/>
          </a:prstGeom>
          <a:noFill/>
          <a:ln/>
        </p:spPr>
        <p:txBody>
          <a:bodyPr wrap="square" lIns="0" tIns="0" rIns="0" bIns="0" rtlCol="0" anchor="ctr"/>
          <a:lstStyle/>
          <a:p>
            <a:pPr indent="0" marL="0">
              <a:buNone/>
            </a:pPr>
            <a:r>
              <a:rPr lang="en-US" sz="6000" b="1" dirty="0">
                <a:solidFill>
                  <a:schemeClr val="bg1"/>
                </a:solidFill>
              </a:rPr>
              <a:t>¿Preguntas?</a:t>
            </a:r>
            <a:endParaRPr lang="en-US" sz="6000" dirty="0"/>
          </a:p>
        </p:txBody>
      </p:sp>
      <p:sp>
        <p:nvSpPr>
          <p:cNvPr id="3" name="repositorio"/>
          <p:cNvSpPr txBox="1"/>
          <p:nvPr/>
        </p:nvSpPr>
        <p:spPr>
          <a:xfrm>
            <a:off x="731520" y="3566160"/>
            <a:ext cx="8229600" cy="457200"/>
          </a:xfrm>
          <a:prstGeom prst="rect">
            <a:avLst/>
          </a:prstGeom>
          <a:noFill/>
          <a:ln/>
        </p:spPr>
        <p:txBody>
          <a:bodyPr wrap="square" lIns="0" tIns="0" rIns="0" bIns="0" rtlCol="0" anchor="t"/>
          <a:lstStyle/>
          <a:p>
            <a:pPr indent="0" marL="0">
              <a:spcAft>
                <a:spcPts val="600"/>
              </a:spcAft>
              <a:buNone/>
            </a:pPr>
            <a:r>
              <a:rPr lang="en-US" sz="2000" dirty="0">
                <a:solidFill>
                  <a:schemeClr val="accent1"/>
                </a:solidFill>
              </a:rPr>
              <a:t>github.com/Alexistodj124/ProyectoFinalAR</a:t>
            </a:r>
            <a:endParaRPr lang="en-US" sz="2000" dirty="0"/>
          </a:p>
        </p:txBody>
      </p:sp>
      <p:sp>
        <p:nvSpPr>
          <p:cNvPr id="4" name="curso cierre"/>
          <p:cNvSpPr txBox="1"/>
          <p:nvPr/>
        </p:nvSpPr>
        <p:spPr>
          <a:xfrm>
            <a:off x="731520" y="4114800"/>
            <a:ext cx="8229600" cy="457200"/>
          </a:xfrm>
          <a:prstGeom prst="rect">
            <a:avLst/>
          </a:prstGeom>
          <a:noFill/>
          <a:ln/>
        </p:spPr>
        <p:txBody>
          <a:bodyPr wrap="square" lIns="0" tIns="0" rIns="0" bIns="0" rtlCol="0" anchor="t"/>
          <a:lstStyle/>
          <a:p>
            <a:pPr indent="0" marL="0">
              <a:spcAft>
                <a:spcPts val="600"/>
              </a:spcAft>
              <a:buNone/>
            </a:pPr>
            <a:r>
              <a:rPr lang="en-US" sz="1600" dirty="0">
                <a:solidFill>
                  <a:schemeClr val="bg2"/>
                </a:solidFill>
              </a:rPr>
              <a:t>CC3104 Aprendizaje por Refuerzo · UVG · 2026</a:t>
            </a:r>
            <a:endParaRPr lang="en-US" sz="1600" dirty="0"/>
          </a:p>
        </p:txBody>
      </p:sp>
      <p:sp>
        <p:nvSpPr>
          <p:cNvPr id="5" name="semaforo caja"/>
          <p:cNvSpPr/>
          <p:nvPr/>
        </p:nvSpPr>
        <p:spPr>
          <a:xfrm>
            <a:off x="9692640" y="1280160"/>
            <a:ext cx="1371600" cy="3931920"/>
          </a:xfrm>
          <a:prstGeom prst="roundRect">
            <a:avLst>
              <a:gd name="adj" fmla="val 20000"/>
            </a:avLst>
          </a:prstGeom>
          <a:solidFill>
            <a:schemeClr val="tx2"/>
          </a:solidFill>
          <a:ln w="12700">
            <a:solidFill>
              <a:schemeClr val="accent6"/>
            </a:solidFill>
            <a:prstDash val="solid"/>
          </a:ln>
        </p:spPr>
      </p:sp>
      <p:sp>
        <p:nvSpPr>
          <p:cNvPr id="6" name="luz 0"/>
          <p:cNvSpPr/>
          <p:nvPr/>
        </p:nvSpPr>
        <p:spPr>
          <a:xfrm>
            <a:off x="9921240" y="1554480"/>
            <a:ext cx="914400" cy="914400"/>
          </a:xfrm>
          <a:prstGeom prst="ellipse">
            <a:avLst/>
          </a:prstGeom>
          <a:solidFill>
            <a:srgbClr val="FF6B6B">
              <a:alpha val="25000"/>
            </a:srgbClr>
          </a:solidFill>
          <a:ln w="12700">
            <a:solidFill>
              <a:srgbClr val="FF6B6B"/>
            </a:solidFill>
            <a:prstDash val="solid"/>
          </a:ln>
        </p:spPr>
      </p:sp>
      <p:sp>
        <p:nvSpPr>
          <p:cNvPr id="7" name="luz 1"/>
          <p:cNvSpPr/>
          <p:nvPr/>
        </p:nvSpPr>
        <p:spPr>
          <a:xfrm>
            <a:off x="9921240" y="2743200"/>
            <a:ext cx="914400" cy="914400"/>
          </a:xfrm>
          <a:prstGeom prst="ellipse">
            <a:avLst/>
          </a:prstGeom>
          <a:solidFill>
            <a:srgbClr val="FF9F43">
              <a:alpha val="25000"/>
            </a:srgbClr>
          </a:solidFill>
          <a:ln w="12700">
            <a:solidFill>
              <a:srgbClr val="FF9F43"/>
            </a:solidFill>
            <a:prstDash val="solid"/>
          </a:ln>
        </p:spPr>
      </p:sp>
      <p:sp>
        <p:nvSpPr>
          <p:cNvPr id="8" name="luz 2"/>
          <p:cNvSpPr/>
          <p:nvPr/>
        </p:nvSpPr>
        <p:spPr>
          <a:xfrm>
            <a:off x="9921240" y="3931920"/>
            <a:ext cx="914400" cy="914400"/>
          </a:xfrm>
          <a:prstGeom prst="ellipse">
            <a:avLst/>
          </a:prstGeom>
          <a:solidFill>
            <a:srgbClr val="2EE6A6"/>
          </a:solidFill>
          <a:ln w="12700">
            <a:solidFill>
              <a:srgbClr val="2EE6A6"/>
            </a:solidFill>
            <a:prstDash val="solid"/>
          </a:ln>
        </p:spPr>
      </p:sp>
    </p:spTree>
  </p:cSld>
  <p:clrMapOvr>
    <a:masterClrMapping/>
  </p:clrMapOvr>
</p:sld>
</file>

<file path=ppt/theme/theme1.xml><?xml version="1.0" encoding="utf-8"?>
<a:theme xmlns:a="http://schemas.openxmlformats.org/drawingml/2006/main" name="Reforma RL oscuro">
  <a:themeElements>
    <a:clrScheme name="Reforma RL oscuro">
      <a:dk1>
        <a:srgbClr val="0B0E14"/>
      </a:dk1>
      <a:lt1>
        <a:srgbClr val="F2F4F8"/>
      </a:lt1>
      <a:dk2>
        <a:srgbClr val="171D29"/>
      </a:dk2>
      <a:lt2>
        <a:srgbClr val="A3ADBD"/>
      </a:lt2>
      <a:accent1>
        <a:srgbClr val="2EE6A6"/>
      </a:accent1>
      <a:accent2>
        <a:srgbClr val="FF9F43"/>
      </a:accent2>
      <a:accent3>
        <a:srgbClr val="7D8796"/>
      </a:accent3>
      <a:accent4>
        <a:srgbClr val="C9CED6"/>
      </a:accent4>
      <a:accent5>
        <a:srgbClr val="FF6B6B"/>
      </a:accent5>
      <a:accent6>
        <a:srgbClr val="2A3344"/>
      </a:accent6>
      <a:hlink>
        <a:srgbClr val="2EE6A6"/>
      </a:hlink>
      <a:folHlink>
        <a:srgbClr val="A3ADBD"/>
      </a:folHlink>
    </a:clrScheme>
    <a:fontScheme name="Reforma RL oscur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Semáforos inteligentes en Av. La Reforma con RL multiagente</dc:title>
  <dc:subject>CC3104 Aprendizaje por Refuerzo, UVG, 2026</dc:subject>
  <dc:creator>Equipo del proyecto</dc:creator>
  <cp:lastModifiedBy>Equipo del proyecto</cp:lastModifiedBy>
  <cp:revision>1</cp:revision>
  <dcterms:created xsi:type="dcterms:W3CDTF">2026-10-17T12:34:15Z</dcterms:created>
  <dcterms:modified xsi:type="dcterms:W3CDTF">2026-10-17T12:34:15Z</dcterms:modified>
</cp:coreProperties>
</file>